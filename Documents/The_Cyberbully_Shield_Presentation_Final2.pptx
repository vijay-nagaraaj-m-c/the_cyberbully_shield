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68" r:id="rId2"/>
    <p:sldId id="257" r:id="rId3"/>
    <p:sldId id="270" r:id="rId4"/>
    <p:sldId id="258" r:id="rId5"/>
    <p:sldId id="259" r:id="rId6"/>
    <p:sldId id="260" r:id="rId7"/>
    <p:sldId id="261" r:id="rId8"/>
    <p:sldId id="262" r:id="rId9"/>
    <p:sldId id="263" r:id="rId10"/>
    <p:sldId id="264" r:id="rId11"/>
    <p:sldId id="265" r:id="rId12"/>
    <p:sldId id="266" r:id="rId13"/>
    <p:sldId id="267" r:id="rId14"/>
    <p:sldId id="27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213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41" autoAdjust="0"/>
  </p:normalViewPr>
  <p:slideViewPr>
    <p:cSldViewPr snapToGrid="0" snapToObjects="1">
      <p:cViewPr varScale="1">
        <p:scale>
          <a:sx n="78" d="100"/>
          <a:sy n="78"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C72028-4385-4AF5-A3B1-93E3DD6A4C03}" type="datetimeFigureOut">
              <a:rPr lang="en-IN" smtClean="0"/>
              <a:t>12-05-2026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373AD4-D8C7-42A2-9424-3CE74A360761}" type="slidenum">
              <a:rPr lang="en-IN" smtClean="0"/>
              <a:t>‹#›</a:t>
            </a:fld>
            <a:endParaRPr lang="en-IN"/>
          </a:p>
        </p:txBody>
      </p:sp>
    </p:spTree>
    <p:extLst>
      <p:ext uri="{BB962C8B-B14F-4D97-AF65-F5344CB8AC3E}">
        <p14:creationId xmlns:p14="http://schemas.microsoft.com/office/powerpoint/2010/main" val="911883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373AD4-D8C7-42A2-9424-3CE74A360761}" type="slidenum">
              <a:rPr lang="en-IN" smtClean="0"/>
              <a:t>8</a:t>
            </a:fld>
            <a:endParaRPr lang="en-IN"/>
          </a:p>
        </p:txBody>
      </p:sp>
    </p:spTree>
    <p:extLst>
      <p:ext uri="{BB962C8B-B14F-4D97-AF65-F5344CB8AC3E}">
        <p14:creationId xmlns:p14="http://schemas.microsoft.com/office/powerpoint/2010/main" val="2372276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13E"/>
        </a:solidFill>
        <a:effectLst/>
      </p:bgPr>
    </p:bg>
    <p:spTree>
      <p:nvGrpSpPr>
        <p:cNvPr id="1" name=""/>
        <p:cNvGrpSpPr/>
        <p:nvPr/>
      </p:nvGrpSpPr>
      <p:grpSpPr>
        <a:xfrm>
          <a:off x="0" y="0"/>
          <a:ext cx="0" cy="0"/>
          <a:chOff x="0" y="0"/>
          <a:chExt cx="0" cy="0"/>
        </a:xfrm>
      </p:grpSpPr>
      <p:sp>
        <p:nvSpPr>
          <p:cNvPr id="2" name="Rectangle 1"/>
          <p:cNvSpPr/>
          <p:nvPr/>
        </p:nvSpPr>
        <p:spPr>
          <a:xfrm>
            <a:off x="1165116" y="1065257"/>
            <a:ext cx="9448495" cy="3810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p:cNvSpPr/>
          <p:nvPr/>
        </p:nvSpPr>
        <p:spPr>
          <a:xfrm>
            <a:off x="1165117" y="3164079"/>
            <a:ext cx="9448495" cy="3810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17710" y="1332298"/>
            <a:ext cx="11277295" cy="1015663"/>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800"/>
              </a:spcAft>
              <a:buClrTx/>
              <a:buSzTx/>
              <a:buFontTx/>
              <a:buNone/>
              <a:tabLst/>
              <a:defRPr sz="4600" b="1">
                <a:solidFill>
                  <a:srgbClr val="FFFFFF"/>
                </a:solidFill>
              </a:defRPr>
            </a:pPr>
            <a:r>
              <a:rPr kumimoji="0" sz="6000" b="1" i="0" u="none" strike="noStrike" kern="1200" cap="none" spc="0" normalizeH="0" baseline="0" noProof="0" dirty="0">
                <a:ln>
                  <a:noFill/>
                </a:ln>
                <a:solidFill>
                  <a:srgbClr val="FFFFFF"/>
                </a:solidFill>
                <a:effectLst/>
                <a:uLnTx/>
                <a:uFillTx/>
                <a:latin typeface="Calibri"/>
                <a:ea typeface="+mn-ea"/>
                <a:cs typeface="+mn-cs"/>
              </a:rPr>
              <a:t>THE CYBERBULLY SHIELD</a:t>
            </a:r>
          </a:p>
        </p:txBody>
      </p:sp>
      <p:sp>
        <p:nvSpPr>
          <p:cNvPr id="5" name="TextBox 4"/>
          <p:cNvSpPr txBox="1"/>
          <p:nvPr/>
        </p:nvSpPr>
        <p:spPr>
          <a:xfrm>
            <a:off x="417711" y="2361544"/>
            <a:ext cx="11277295" cy="461665"/>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200"/>
              </a:spcAft>
              <a:buClrTx/>
              <a:buSzTx/>
              <a:buFontTx/>
              <a:buNone/>
              <a:tabLst/>
              <a:defRPr sz="2000" b="0">
                <a:solidFill>
                  <a:srgbClr val="FFCC80"/>
                </a:solidFill>
              </a:defRPr>
            </a:pPr>
            <a:r>
              <a:rPr kumimoji="0" lang="en-US" sz="2400" b="0" i="0" u="none" strike="noStrike" kern="1200" cap="none" spc="0" normalizeH="0" baseline="0" noProof="0" dirty="0">
                <a:ln>
                  <a:noFill/>
                </a:ln>
                <a:solidFill>
                  <a:srgbClr val="FFCC80"/>
                </a:solidFill>
                <a:effectLst/>
                <a:uLnTx/>
                <a:uFillTx/>
                <a:latin typeface="Calibri"/>
                <a:ea typeface="+mn-ea"/>
                <a:cs typeface="+mn-cs"/>
              </a:rPr>
              <a:t>AN AUTOMATED FRAMEWORK FOR REAL-TIME CYBERBULLY DETECTION </a:t>
            </a:r>
          </a:p>
        </p:txBody>
      </p:sp>
      <p:sp>
        <p:nvSpPr>
          <p:cNvPr id="7" name="TextBox 6"/>
          <p:cNvSpPr txBox="1"/>
          <p:nvPr/>
        </p:nvSpPr>
        <p:spPr>
          <a:xfrm>
            <a:off x="6056359" y="4198792"/>
            <a:ext cx="4557255" cy="1795363"/>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800"/>
              </a:spcAft>
              <a:buClrTx/>
              <a:buSzTx/>
              <a:buFontTx/>
              <a:buNone/>
              <a:tabLst/>
              <a:defRPr sz="1300" b="0">
                <a:solidFill>
                  <a:srgbClr val="FFCC80"/>
                </a:solidFill>
              </a:defRPr>
            </a:pPr>
            <a:r>
              <a:rPr kumimoji="0" lang="en-US" sz="2000" b="1" i="0" u="none" strike="noStrike" kern="1200" cap="none" spc="0" normalizeH="0" baseline="0" noProof="0" dirty="0">
                <a:ln>
                  <a:noFill/>
                </a:ln>
                <a:solidFill>
                  <a:schemeClr val="bg1"/>
                </a:solidFill>
                <a:effectLst/>
                <a:uLnTx/>
                <a:uFillTx/>
                <a:latin typeface="Calibri"/>
                <a:ea typeface="+mn-ea"/>
                <a:cs typeface="+mn-cs"/>
              </a:rPr>
              <a:t>TEAM MEMBERS :</a:t>
            </a:r>
          </a:p>
          <a:p>
            <a:pPr lvl="2">
              <a:spcAft>
                <a:spcPts val="800"/>
              </a:spcAft>
              <a:defRPr sz="1300" b="0">
                <a:solidFill>
                  <a:srgbClr val="FFCC80"/>
                </a:solidFill>
              </a:defRPr>
            </a:pPr>
            <a:r>
              <a:rPr kumimoji="0" lang="en-IN" sz="1600" b="0" i="0" u="none" strike="noStrike" kern="1200" cap="none" spc="0" normalizeH="0" baseline="0" noProof="0" dirty="0">
                <a:ln>
                  <a:noFill/>
                </a:ln>
                <a:solidFill>
                  <a:srgbClr val="FFCC80"/>
                </a:solidFill>
                <a:effectLst/>
                <a:uLnTx/>
                <a:uFillTx/>
                <a:latin typeface="Calibri"/>
                <a:ea typeface="+mn-ea"/>
                <a:cs typeface="+mn-cs"/>
              </a:rPr>
              <a:t>MAHESHWARAN M          (962322104063)</a:t>
            </a:r>
          </a:p>
          <a:p>
            <a:pPr lvl="2">
              <a:spcAft>
                <a:spcPts val="800"/>
              </a:spcAft>
              <a:defRPr sz="1300" b="0">
                <a:solidFill>
                  <a:srgbClr val="FFCC80"/>
                </a:solidFill>
              </a:defRPr>
            </a:pPr>
            <a:r>
              <a:rPr kumimoji="0" lang="en-IN" sz="1600" b="0" i="0" u="none" strike="noStrike" kern="1200" cap="none" spc="0" normalizeH="0" baseline="0" noProof="0" dirty="0">
                <a:ln>
                  <a:noFill/>
                </a:ln>
                <a:solidFill>
                  <a:srgbClr val="FFCC80"/>
                </a:solidFill>
                <a:effectLst/>
                <a:uLnTx/>
                <a:uFillTx/>
                <a:latin typeface="Calibri"/>
                <a:ea typeface="+mn-ea"/>
                <a:cs typeface="+mn-cs"/>
              </a:rPr>
              <a:t>PRAVEEN KUMAR N R      (962322104080)</a:t>
            </a:r>
          </a:p>
          <a:p>
            <a:pPr lvl="2">
              <a:spcAft>
                <a:spcPts val="800"/>
              </a:spcAft>
              <a:defRPr sz="1300" b="0">
                <a:solidFill>
                  <a:srgbClr val="FFCC80"/>
                </a:solidFill>
              </a:defRPr>
            </a:pPr>
            <a:r>
              <a:rPr kumimoji="0" lang="en-IN" sz="1600" b="0" i="0" u="none" strike="noStrike" kern="1200" cap="none" spc="0" normalizeH="0" baseline="0" noProof="0" dirty="0">
                <a:ln>
                  <a:noFill/>
                </a:ln>
                <a:solidFill>
                  <a:srgbClr val="FFCC80"/>
                </a:solidFill>
                <a:effectLst/>
                <a:uLnTx/>
                <a:uFillTx/>
                <a:latin typeface="Calibri"/>
                <a:ea typeface="+mn-ea"/>
                <a:cs typeface="+mn-cs"/>
              </a:rPr>
              <a:t>SIVAGURU M                     (962322104100)</a:t>
            </a:r>
          </a:p>
          <a:p>
            <a:pPr lvl="2">
              <a:spcAft>
                <a:spcPts val="800"/>
              </a:spcAft>
              <a:defRPr sz="1300" b="0">
                <a:solidFill>
                  <a:srgbClr val="FFCC80"/>
                </a:solidFill>
              </a:defRPr>
            </a:pPr>
            <a:r>
              <a:rPr kumimoji="0" lang="en-IN" sz="1600" b="0" i="0" u="none" strike="noStrike" kern="1200" cap="none" spc="0" normalizeH="0" baseline="0" noProof="0" dirty="0">
                <a:ln>
                  <a:noFill/>
                </a:ln>
                <a:solidFill>
                  <a:srgbClr val="FFCC80"/>
                </a:solidFill>
                <a:effectLst/>
                <a:uLnTx/>
                <a:uFillTx/>
                <a:latin typeface="Calibri"/>
                <a:ea typeface="+mn-ea"/>
                <a:cs typeface="+mn-cs"/>
              </a:rPr>
              <a:t>VIJAY NAGARAAJ M C       (962322104118)</a:t>
            </a:r>
          </a:p>
        </p:txBody>
      </p:sp>
      <p:sp>
        <p:nvSpPr>
          <p:cNvPr id="8" name="TextBox 7">
            <a:extLst>
              <a:ext uri="{FF2B5EF4-FFF2-40B4-BE49-F238E27FC236}">
                <a16:creationId xmlns:a16="http://schemas.microsoft.com/office/drawing/2014/main" id="{53111B27-79BB-A0A5-6B80-CC39A3F225BB}"/>
              </a:ext>
            </a:extLst>
          </p:cNvPr>
          <p:cNvSpPr txBox="1"/>
          <p:nvPr/>
        </p:nvSpPr>
        <p:spPr>
          <a:xfrm>
            <a:off x="1165119" y="4198792"/>
            <a:ext cx="3451121" cy="748923"/>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800"/>
              </a:spcAft>
              <a:buClrTx/>
              <a:buSzTx/>
              <a:buFontTx/>
              <a:buNone/>
              <a:tabLst/>
              <a:defRPr sz="1300" b="0">
                <a:solidFill>
                  <a:srgbClr val="FFCC80"/>
                </a:solidFill>
              </a:defRPr>
            </a:pPr>
            <a:r>
              <a:rPr kumimoji="0" lang="en-US" sz="2000" b="1" i="0" u="none" strike="noStrike" kern="1200" cap="none" spc="0" normalizeH="0" baseline="0" noProof="0" dirty="0">
                <a:ln>
                  <a:noFill/>
                </a:ln>
                <a:solidFill>
                  <a:schemeClr val="bg1"/>
                </a:solidFill>
                <a:effectLst/>
                <a:uLnTx/>
                <a:uFillTx/>
                <a:latin typeface="Calibri"/>
                <a:ea typeface="+mn-ea"/>
                <a:cs typeface="+mn-cs"/>
              </a:rPr>
              <a:t>PROJECT SUPERVISOR :</a:t>
            </a:r>
          </a:p>
          <a:p>
            <a:pPr lvl="2">
              <a:spcAft>
                <a:spcPts val="800"/>
              </a:spcAft>
              <a:defRPr sz="1300" b="0">
                <a:solidFill>
                  <a:srgbClr val="FFCC80"/>
                </a:solidFill>
              </a:defRPr>
            </a:pPr>
            <a:r>
              <a:rPr kumimoji="0" lang="en-IN" sz="1600" b="0" i="0" u="none" strike="noStrike" kern="1200" cap="none" spc="0" normalizeH="0" baseline="0" noProof="0" dirty="0">
                <a:ln>
                  <a:noFill/>
                </a:ln>
                <a:solidFill>
                  <a:srgbClr val="FFCC80"/>
                </a:solidFill>
                <a:effectLst/>
                <a:uLnTx/>
                <a:uFillTx/>
                <a:latin typeface="Calibri"/>
                <a:ea typeface="+mn-ea"/>
                <a:cs typeface="+mn-cs"/>
              </a:rPr>
              <a:t>	MRS. G CHITHRA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8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800"/>
            <a:ext cx="12191695" cy="7112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wrap="square" lIns="508000" rtlCol="0" anchor="ctr"/>
          <a:lstStyle/>
          <a:p>
            <a:pPr algn="l">
              <a:defRPr sz="3000" b="1">
                <a:solidFill>
                  <a:srgbClr val="FFFFFF"/>
                </a:solidFill>
              </a:defRPr>
            </a:pPr>
            <a:r>
              <a:rPr lang="en-IN" dirty="0"/>
              <a:t>ABSTRACT</a:t>
            </a:r>
          </a:p>
        </p:txBody>
      </p:sp>
      <p:sp>
        <p:nvSpPr>
          <p:cNvPr id="4" name="TextBox 3"/>
          <p:cNvSpPr txBox="1"/>
          <p:nvPr/>
        </p:nvSpPr>
        <p:spPr>
          <a:xfrm>
            <a:off x="11277295" y="6502400"/>
            <a:ext cx="731520" cy="279400"/>
          </a:xfrm>
          <a:prstGeom prst="rect">
            <a:avLst/>
          </a:prstGeom>
          <a:noFill/>
        </p:spPr>
        <p:txBody>
          <a:bodyPr wrap="none">
            <a:spAutoFit/>
          </a:bodyPr>
          <a:lstStyle/>
          <a:p>
            <a:pPr algn="r">
              <a:defRPr sz="1000">
                <a:solidFill>
                  <a:srgbClr val="888888"/>
                </a:solidFill>
              </a:defRPr>
            </a:pPr>
            <a:r>
              <a:t>2</a:t>
            </a:r>
          </a:p>
        </p:txBody>
      </p:sp>
      <p:sp>
        <p:nvSpPr>
          <p:cNvPr id="5" name="TextBox 4"/>
          <p:cNvSpPr txBox="1"/>
          <p:nvPr/>
        </p:nvSpPr>
        <p:spPr>
          <a:xfrm>
            <a:off x="548640" y="1470906"/>
            <a:ext cx="10972800" cy="3426579"/>
          </a:xfrm>
          <a:prstGeom prst="rect">
            <a:avLst/>
          </a:prstGeom>
          <a:noFill/>
        </p:spPr>
        <p:txBody>
          <a:bodyPr wrap="square">
            <a:spAutoFit/>
          </a:bodyPr>
          <a:lstStyle/>
          <a:p>
            <a:pPr marL="285750" indent="-285750" algn="just">
              <a:spcAft>
                <a:spcPts val="1400"/>
              </a:spcAft>
              <a:buSzPct val="150000"/>
              <a:buFont typeface="Arial" panose="020B0604020202020204" pitchFamily="34" charset="0"/>
              <a:buChar char="•"/>
              <a:defRPr sz="1700" b="0">
                <a:solidFill>
                  <a:srgbClr val="2C2C2C"/>
                </a:solidFill>
              </a:defRPr>
            </a:pPr>
            <a:r>
              <a:rPr lang="en-US" sz="1700" dirty="0"/>
              <a:t>The rapid expansion of social media platforms has led to a rise in cyberbullying, which has evolved from simple text-based harassment to a multimodal phenomenon involving images, memes and sarcasm.</a:t>
            </a:r>
          </a:p>
          <a:p>
            <a:pPr marL="285750" indent="-285750" algn="just">
              <a:spcAft>
                <a:spcPts val="1400"/>
              </a:spcAft>
              <a:buSzPct val="150000"/>
              <a:buFont typeface="Arial" panose="020B0604020202020204" pitchFamily="34" charset="0"/>
              <a:buChar char="•"/>
              <a:defRPr sz="1700" b="0">
                <a:solidFill>
                  <a:srgbClr val="2C2C2C"/>
                </a:solidFill>
              </a:defRPr>
            </a:pPr>
            <a:r>
              <a:rPr lang="en-US" sz="1700" dirty="0"/>
              <a:t>Existing cyberbullying detection systems rely mainly on static keyword-based filtering, which fails to capture contextual meaning and complex linguistic patterns used in modern online abuse.</a:t>
            </a:r>
          </a:p>
          <a:p>
            <a:pPr marL="285750" indent="-285750" algn="just">
              <a:spcAft>
                <a:spcPts val="1400"/>
              </a:spcAft>
              <a:buSzPct val="150000"/>
              <a:buFont typeface="Arial" panose="020B0604020202020204" pitchFamily="34" charset="0"/>
              <a:buChar char="•"/>
              <a:defRPr sz="1700" b="0">
                <a:solidFill>
                  <a:srgbClr val="2C2C2C"/>
                </a:solidFill>
              </a:defRPr>
            </a:pPr>
            <a:r>
              <a:rPr lang="en-US" sz="1700" dirty="0"/>
              <a:t>This project introduces “The Cyberbully Shield,” a real-time automated cyberbullying detection framework designed to improve user safety across online platforms.</a:t>
            </a:r>
          </a:p>
          <a:p>
            <a:pPr marL="285750" indent="-285750" algn="just">
              <a:spcAft>
                <a:spcPts val="1400"/>
              </a:spcAft>
              <a:buSzPct val="150000"/>
              <a:buFont typeface="Arial" panose="020B0604020202020204" pitchFamily="34" charset="0"/>
              <a:buChar char="•"/>
              <a:defRPr sz="1700" b="0">
                <a:solidFill>
                  <a:srgbClr val="2C2C2C"/>
                </a:solidFill>
              </a:defRPr>
            </a:pPr>
            <a:r>
              <a:rPr lang="en-US" sz="1700" dirty="0"/>
              <a:t>The system adopts a multimodal deep learning approach, utilizing </a:t>
            </a:r>
            <a:r>
              <a:rPr lang="en-US" sz="1700" dirty="0" err="1"/>
              <a:t>DistilBERT</a:t>
            </a:r>
            <a:r>
              <a:rPr lang="en-US" sz="1700" dirty="0"/>
              <a:t> for efficient text analysis and CNNs with OCR for extracting and analyzing visual content.</a:t>
            </a:r>
          </a:p>
          <a:p>
            <a:pPr marL="285750" indent="-285750" algn="just">
              <a:spcAft>
                <a:spcPts val="1400"/>
              </a:spcAft>
              <a:buSzPct val="150000"/>
              <a:buFont typeface="Arial" panose="020B0604020202020204" pitchFamily="34" charset="0"/>
              <a:buChar char="•"/>
              <a:defRPr sz="1700" b="0">
                <a:solidFill>
                  <a:srgbClr val="2C2C2C"/>
                </a:solidFill>
              </a:defRPr>
            </a:pPr>
            <a:r>
              <a:rPr lang="en-US" sz="1700" dirty="0"/>
              <a:t>An attention-based fusion mechanism is implemented to effectively combine textual and visual features, enabling the model to understand the relationship between written content and accompanying imagery.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2BCBDF1D-BD20-F833-B27B-10BEF652A99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843D9E7-534B-B069-3BC6-E21107F8FCDF}"/>
              </a:ext>
            </a:extLst>
          </p:cNvPr>
          <p:cNvSpPr/>
          <p:nvPr/>
        </p:nvSpPr>
        <p:spPr>
          <a:xfrm>
            <a:off x="0" y="0"/>
            <a:ext cx="12191695" cy="508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F3134F2C-522B-1BB5-A36E-B240BB4F6470}"/>
              </a:ext>
            </a:extLst>
          </p:cNvPr>
          <p:cNvSpPr/>
          <p:nvPr/>
        </p:nvSpPr>
        <p:spPr>
          <a:xfrm>
            <a:off x="0" y="50800"/>
            <a:ext cx="12191695" cy="7112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wrap="square" lIns="508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sz="3000" b="1">
                <a:solidFill>
                  <a:srgbClr val="FFFFFF"/>
                </a:solidFill>
              </a:defRPr>
            </a:pPr>
            <a:r>
              <a:rPr kumimoji="0" sz="3000" b="1" i="0" u="none" strike="noStrike" kern="1200" cap="none" spc="0" normalizeH="0" baseline="0" noProof="0">
                <a:ln>
                  <a:noFill/>
                </a:ln>
                <a:solidFill>
                  <a:srgbClr val="FFFFFF"/>
                </a:solidFill>
                <a:effectLst/>
                <a:uLnTx/>
                <a:uFillTx/>
                <a:latin typeface="Calibri"/>
                <a:ea typeface="+mn-ea"/>
                <a:cs typeface="+mn-cs"/>
              </a:rPr>
              <a:t>PROBLEM IDENTIFICATION</a:t>
            </a:r>
          </a:p>
        </p:txBody>
      </p:sp>
      <p:sp>
        <p:nvSpPr>
          <p:cNvPr id="4" name="TextBox 3">
            <a:extLst>
              <a:ext uri="{FF2B5EF4-FFF2-40B4-BE49-F238E27FC236}">
                <a16:creationId xmlns:a16="http://schemas.microsoft.com/office/drawing/2014/main" id="{9E80FCC0-C4C5-9806-E18E-5ACB9C20322A}"/>
              </a:ext>
            </a:extLst>
          </p:cNvPr>
          <p:cNvSpPr txBox="1"/>
          <p:nvPr/>
        </p:nvSpPr>
        <p:spPr>
          <a:xfrm>
            <a:off x="11277295" y="6502400"/>
            <a:ext cx="731520" cy="279400"/>
          </a:xfrm>
          <a:prstGeom prst="rect">
            <a:avLst/>
          </a:prstGeom>
          <a:noFill/>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sz="1000">
                <a:solidFill>
                  <a:srgbClr val="888888"/>
                </a:solidFill>
              </a:defRPr>
            </a:pPr>
            <a:r>
              <a:rPr kumimoji="0" sz="1000" b="0" i="0" u="none" strike="noStrike" kern="1200" cap="none" spc="0" normalizeH="0" baseline="0" noProof="0">
                <a:ln>
                  <a:noFill/>
                </a:ln>
                <a:solidFill>
                  <a:srgbClr val="888888"/>
                </a:solidFill>
                <a:effectLst/>
                <a:uLnTx/>
                <a:uFillTx/>
                <a:latin typeface="Calibri"/>
                <a:ea typeface="+mn-ea"/>
                <a:cs typeface="+mn-cs"/>
              </a:rPr>
              <a:t>2</a:t>
            </a:r>
          </a:p>
        </p:txBody>
      </p:sp>
      <p:sp>
        <p:nvSpPr>
          <p:cNvPr id="5" name="TextBox 4">
            <a:extLst>
              <a:ext uri="{FF2B5EF4-FFF2-40B4-BE49-F238E27FC236}">
                <a16:creationId xmlns:a16="http://schemas.microsoft.com/office/drawing/2014/main" id="{95E49C0A-B2C5-ED15-DFB3-9EB43E98AED5}"/>
              </a:ext>
            </a:extLst>
          </p:cNvPr>
          <p:cNvSpPr txBox="1"/>
          <p:nvPr/>
        </p:nvSpPr>
        <p:spPr>
          <a:xfrm>
            <a:off x="548640" y="1097280"/>
            <a:ext cx="10972800" cy="4129336"/>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1400"/>
              </a:spcAft>
              <a:buClrTx/>
              <a:buSzPct val="150000"/>
              <a:tabLst/>
              <a:defRPr sz="1700" b="0">
                <a:solidFill>
                  <a:srgbClr val="2C2C2C"/>
                </a:solidFill>
              </a:defRPr>
            </a:pPr>
            <a:r>
              <a:rPr kumimoji="0" lang="en-US" sz="1700" b="0" i="0" u="none" strike="noStrike" kern="1200" cap="none" spc="0" normalizeH="0" baseline="0" noProof="0" dirty="0">
                <a:ln>
                  <a:noFill/>
                </a:ln>
                <a:solidFill>
                  <a:srgbClr val="2C2C2C"/>
                </a:solidFill>
                <a:effectLst/>
                <a:uLnTx/>
                <a:uFillTx/>
                <a:latin typeface="Calibri"/>
                <a:ea typeface="+mn-ea"/>
                <a:cs typeface="+mn-cs"/>
              </a:rPr>
              <a:t>•  What is Cyberbullying? — It is the repeated use of digital platforms (social media, messaging apps) to harass, threaten, or humiliate someone using text, images, memes, or comments.</a:t>
            </a:r>
          </a:p>
          <a:p>
            <a:pPr marR="0" lvl="0" algn="l" defTabSz="457200" rtl="0" eaLnBrk="1" fontAlgn="auto" latinLnBrk="0" hangingPunct="1">
              <a:lnSpc>
                <a:spcPct val="100000"/>
              </a:lnSpc>
              <a:spcBef>
                <a:spcPts val="0"/>
              </a:spcBef>
              <a:spcAft>
                <a:spcPts val="1400"/>
              </a:spcAft>
              <a:buClrTx/>
              <a:buSzPct val="150000"/>
              <a:tabLst/>
              <a:defRPr sz="1700" b="0">
                <a:solidFill>
                  <a:srgbClr val="2C2C2C"/>
                </a:solidFill>
              </a:defRPr>
            </a:pPr>
            <a:r>
              <a:rPr kumimoji="0" lang="en-US" sz="1700" b="0" i="0" u="none" strike="noStrike" kern="1200" cap="none" spc="0" normalizeH="0" baseline="0" noProof="0" dirty="0">
                <a:ln>
                  <a:noFill/>
                </a:ln>
                <a:solidFill>
                  <a:srgbClr val="2C2C2C"/>
                </a:solidFill>
                <a:effectLst/>
                <a:uLnTx/>
                <a:uFillTx/>
                <a:latin typeface="Calibri"/>
                <a:ea typeface="+mn-ea"/>
                <a:cs typeface="+mn-cs"/>
              </a:rPr>
              <a:t>•  Scale of the Problem — Over 37% of students aged 12–17 have been bullied online, causing depression, anxiety, and even self-harm (Pew Research, 2022).</a:t>
            </a:r>
          </a:p>
          <a:p>
            <a:pPr marR="0" lvl="0" algn="l" defTabSz="457200" rtl="0" eaLnBrk="1" fontAlgn="auto" latinLnBrk="0" hangingPunct="1">
              <a:lnSpc>
                <a:spcPct val="100000"/>
              </a:lnSpc>
              <a:spcBef>
                <a:spcPts val="0"/>
              </a:spcBef>
              <a:spcAft>
                <a:spcPts val="1400"/>
              </a:spcAft>
              <a:buClrTx/>
              <a:buSzPct val="150000"/>
              <a:tabLst/>
              <a:defRPr sz="1700" b="0">
                <a:solidFill>
                  <a:srgbClr val="2C2C2C"/>
                </a:solidFill>
              </a:defRPr>
            </a:pPr>
            <a:r>
              <a:rPr kumimoji="0" lang="en-US" sz="1700" b="0" i="0" u="none" strike="noStrike" kern="1200" cap="none" spc="0" normalizeH="0" baseline="0" noProof="0" dirty="0">
                <a:ln>
                  <a:noFill/>
                </a:ln>
                <a:solidFill>
                  <a:srgbClr val="2C2C2C"/>
                </a:solidFill>
                <a:effectLst/>
                <a:uLnTx/>
                <a:uFillTx/>
                <a:latin typeface="Calibri"/>
                <a:ea typeface="+mn-ea"/>
                <a:cs typeface="+mn-cs"/>
              </a:rPr>
              <a:t>•  Why is Detection Hard? — Most existing tools only look at text. They completely miss image-based bullying like offensive memes or screenshots with hurtful text embedded inside them.</a:t>
            </a:r>
          </a:p>
          <a:p>
            <a:pPr marR="0" lvl="0" algn="l" defTabSz="457200" rtl="0" eaLnBrk="1" fontAlgn="auto" latinLnBrk="0" hangingPunct="1">
              <a:lnSpc>
                <a:spcPct val="100000"/>
              </a:lnSpc>
              <a:spcBef>
                <a:spcPts val="0"/>
              </a:spcBef>
              <a:spcAft>
                <a:spcPts val="1400"/>
              </a:spcAft>
              <a:buClrTx/>
              <a:buSzPct val="150000"/>
              <a:tabLst/>
              <a:defRPr sz="1700" b="0">
                <a:solidFill>
                  <a:srgbClr val="2C2C2C"/>
                </a:solidFill>
              </a:defRPr>
            </a:pPr>
            <a:r>
              <a:rPr kumimoji="0" lang="en-US" sz="1700" b="0" i="0" u="none" strike="noStrike" kern="1200" cap="none" spc="0" normalizeH="0" baseline="0" noProof="0" dirty="0">
                <a:ln>
                  <a:noFill/>
                </a:ln>
                <a:solidFill>
                  <a:srgbClr val="2C2C2C"/>
                </a:solidFill>
                <a:effectLst/>
                <a:uLnTx/>
                <a:uFillTx/>
                <a:latin typeface="Calibri"/>
                <a:ea typeface="+mn-ea"/>
                <a:cs typeface="+mn-cs"/>
              </a:rPr>
              <a:t>•  Limitation of Old Methods — Traditional ML models (SVM, Naïve Bayes) use simple word-counting techniques (TF-IDF). They cannot understand sarcasm, hidden meanings, or context.</a:t>
            </a:r>
          </a:p>
          <a:p>
            <a:pPr marR="0" lvl="0" algn="l" defTabSz="457200" rtl="0" eaLnBrk="1" fontAlgn="auto" latinLnBrk="0" hangingPunct="1">
              <a:lnSpc>
                <a:spcPct val="100000"/>
              </a:lnSpc>
              <a:spcBef>
                <a:spcPts val="0"/>
              </a:spcBef>
              <a:spcAft>
                <a:spcPts val="1400"/>
              </a:spcAft>
              <a:buClrTx/>
              <a:buSzPct val="150000"/>
              <a:tabLst/>
              <a:defRPr sz="1700" b="0">
                <a:solidFill>
                  <a:srgbClr val="2C2C2C"/>
                </a:solidFill>
              </a:defRPr>
            </a:pPr>
            <a:r>
              <a:rPr kumimoji="0" lang="en-US" sz="1700" b="0" i="0" u="none" strike="noStrike" kern="1200" cap="none" spc="0" normalizeH="0" baseline="0" noProof="0" dirty="0">
                <a:ln>
                  <a:noFill/>
                </a:ln>
                <a:solidFill>
                  <a:srgbClr val="2C2C2C"/>
                </a:solidFill>
                <a:effectLst/>
                <a:uLnTx/>
                <a:uFillTx/>
                <a:latin typeface="Calibri"/>
                <a:ea typeface="+mn-ea"/>
                <a:cs typeface="+mn-cs"/>
              </a:rPr>
              <a:t>•  Missing Link — No existing system looks at text and images together to find connected patterns of bullying across both modalities.</a:t>
            </a:r>
          </a:p>
          <a:p>
            <a:pPr marR="0" lvl="0" algn="l" defTabSz="457200" rtl="0" eaLnBrk="1" fontAlgn="auto" latinLnBrk="0" hangingPunct="1">
              <a:lnSpc>
                <a:spcPct val="100000"/>
              </a:lnSpc>
              <a:spcBef>
                <a:spcPts val="0"/>
              </a:spcBef>
              <a:spcAft>
                <a:spcPts val="1400"/>
              </a:spcAft>
              <a:buClrTx/>
              <a:buSzPct val="150000"/>
              <a:tabLst/>
              <a:defRPr sz="1700" b="0">
                <a:solidFill>
                  <a:srgbClr val="2C2C2C"/>
                </a:solidFill>
              </a:defRPr>
            </a:pPr>
            <a:r>
              <a:rPr kumimoji="0" lang="en-US" sz="1700" b="0" i="0" u="none" strike="noStrike" kern="1200" cap="none" spc="0" normalizeH="0" baseline="0" noProof="0" dirty="0">
                <a:ln>
                  <a:noFill/>
                </a:ln>
                <a:solidFill>
                  <a:srgbClr val="2C2C2C"/>
                </a:solidFill>
                <a:effectLst/>
                <a:uLnTx/>
                <a:uFillTx/>
                <a:latin typeface="Calibri"/>
                <a:ea typeface="+mn-ea"/>
                <a:cs typeface="+mn-cs"/>
              </a:rPr>
              <a:t>•  Our Solution — We built a multimodal system that reads both text (using </a:t>
            </a:r>
            <a:r>
              <a:rPr kumimoji="0" lang="en-US" sz="1700" b="0" i="0" u="none" strike="noStrike" kern="1200" cap="none" spc="0" normalizeH="0" baseline="0" noProof="0" dirty="0" err="1">
                <a:ln>
                  <a:noFill/>
                </a:ln>
                <a:solidFill>
                  <a:srgbClr val="2C2C2C"/>
                </a:solidFill>
                <a:effectLst/>
                <a:uLnTx/>
                <a:uFillTx/>
                <a:latin typeface="Calibri"/>
                <a:ea typeface="+mn-ea"/>
                <a:cs typeface="+mn-cs"/>
              </a:rPr>
              <a:t>DistilBERT</a:t>
            </a:r>
            <a:r>
              <a:rPr kumimoji="0" lang="en-US" sz="1700" b="0" i="0" u="none" strike="noStrike" kern="1200" cap="none" spc="0" normalizeH="0" baseline="0" noProof="0" dirty="0">
                <a:ln>
                  <a:noFill/>
                </a:ln>
                <a:solidFill>
                  <a:srgbClr val="2C2C2C"/>
                </a:solidFill>
                <a:effectLst/>
                <a:uLnTx/>
                <a:uFillTx/>
                <a:latin typeface="Calibri"/>
                <a:ea typeface="+mn-ea"/>
                <a:cs typeface="+mn-cs"/>
              </a:rPr>
              <a:t>) and images (using ResNet50), then combines them using Cross-Attention Fusion.</a:t>
            </a:r>
            <a:endParaRPr kumimoji="0" sz="1700" b="0" i="0" u="none" strike="noStrike" kern="1200" cap="none" spc="0" normalizeH="0" baseline="0" noProof="0" dirty="0">
              <a:ln>
                <a:noFill/>
              </a:ln>
              <a:solidFill>
                <a:srgbClr val="2C2C2C"/>
              </a:solidFill>
              <a:effectLst/>
              <a:uLnTx/>
              <a:uFillTx/>
              <a:latin typeface="Calibri"/>
              <a:ea typeface="+mn-ea"/>
              <a:cs typeface="+mn-cs"/>
            </a:endParaRPr>
          </a:p>
        </p:txBody>
      </p:sp>
    </p:spTree>
    <p:extLst>
      <p:ext uri="{BB962C8B-B14F-4D97-AF65-F5344CB8AC3E}">
        <p14:creationId xmlns:p14="http://schemas.microsoft.com/office/powerpoint/2010/main" val="379458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8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800"/>
            <a:ext cx="12191695" cy="7112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wrap="square" lIns="508000" rtlCol="0" anchor="ctr"/>
          <a:lstStyle/>
          <a:p>
            <a:pPr algn="l">
              <a:defRPr sz="3000" b="1">
                <a:solidFill>
                  <a:srgbClr val="FFFFFF"/>
                </a:solidFill>
              </a:defRPr>
            </a:pPr>
            <a:r>
              <a:rPr dirty="0"/>
              <a:t>LITERATURE REVIEW</a:t>
            </a:r>
          </a:p>
        </p:txBody>
      </p:sp>
      <p:sp>
        <p:nvSpPr>
          <p:cNvPr id="4" name="TextBox 3"/>
          <p:cNvSpPr txBox="1"/>
          <p:nvPr/>
        </p:nvSpPr>
        <p:spPr>
          <a:xfrm>
            <a:off x="11277295" y="6502400"/>
            <a:ext cx="731520" cy="279400"/>
          </a:xfrm>
          <a:prstGeom prst="rect">
            <a:avLst/>
          </a:prstGeom>
          <a:noFill/>
        </p:spPr>
        <p:txBody>
          <a:bodyPr wrap="none">
            <a:spAutoFit/>
          </a:bodyPr>
          <a:lstStyle/>
          <a:p>
            <a:pPr algn="r">
              <a:defRPr sz="1000">
                <a:solidFill>
                  <a:srgbClr val="888888"/>
                </a:solidFill>
              </a:defRPr>
            </a:pPr>
            <a:r>
              <a:t>3</a:t>
            </a:r>
          </a:p>
        </p:txBody>
      </p:sp>
      <p:graphicFrame>
        <p:nvGraphicFramePr>
          <p:cNvPr id="5" name="Table 4"/>
          <p:cNvGraphicFramePr>
            <a:graphicFrameLocks noGrp="1"/>
          </p:cNvGraphicFramePr>
          <p:nvPr>
            <p:extLst>
              <p:ext uri="{D42A27DB-BD31-4B8C-83A1-F6EECF244321}">
                <p14:modId xmlns:p14="http://schemas.microsoft.com/office/powerpoint/2010/main" val="1756933142"/>
              </p:ext>
            </p:extLst>
          </p:nvPr>
        </p:nvGraphicFramePr>
        <p:xfrm>
          <a:off x="274320" y="1097280"/>
          <a:ext cx="11612880" cy="5257800"/>
        </p:xfrm>
        <a:graphic>
          <a:graphicData uri="http://schemas.openxmlformats.org/drawingml/2006/table">
            <a:tbl>
              <a:tblPr firstRow="1" bandRow="1">
                <a:tableStyleId>{5C22544A-7EE6-4342-B048-85BDC9FD1C3A}</a:tableStyleId>
              </a:tblPr>
              <a:tblGrid>
                <a:gridCol w="3707130">
                  <a:extLst>
                    <a:ext uri="{9D8B030D-6E8A-4147-A177-3AD203B41FA5}">
                      <a16:colId xmlns:a16="http://schemas.microsoft.com/office/drawing/2014/main" val="20000"/>
                    </a:ext>
                  </a:extLst>
                </a:gridCol>
                <a:gridCol w="981075">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gridCol w="3419475">
                  <a:extLst>
                    <a:ext uri="{9D8B030D-6E8A-4147-A177-3AD203B41FA5}">
                      <a16:colId xmlns:a16="http://schemas.microsoft.com/office/drawing/2014/main" val="20003"/>
                    </a:ext>
                  </a:extLst>
                </a:gridCol>
              </a:tblGrid>
              <a:tr h="838200">
                <a:tc>
                  <a:txBody>
                    <a:bodyPr/>
                    <a:lstStyle/>
                    <a:p>
                      <a:pPr algn="ctr">
                        <a:defRPr sz="1200" b="1">
                          <a:solidFill>
                            <a:srgbClr val="FFFFFF"/>
                          </a:solidFill>
                        </a:defRPr>
                      </a:pPr>
                      <a:r>
                        <a:rPr sz="2000" dirty="0"/>
                        <a:t>Research Paper</a:t>
                      </a:r>
                    </a:p>
                  </a:txBody>
                  <a:tcPr anchor="ctr">
                    <a:solidFill>
                      <a:srgbClr val="16213E"/>
                    </a:solidFill>
                  </a:tcPr>
                </a:tc>
                <a:tc>
                  <a:txBody>
                    <a:bodyPr/>
                    <a:lstStyle/>
                    <a:p>
                      <a:pPr algn="ctr">
                        <a:defRPr sz="1200" b="1">
                          <a:solidFill>
                            <a:srgbClr val="FFFFFF"/>
                          </a:solidFill>
                        </a:defRPr>
                      </a:pPr>
                      <a:r>
                        <a:rPr sz="2000" dirty="0"/>
                        <a:t>Year</a:t>
                      </a:r>
                    </a:p>
                  </a:txBody>
                  <a:tcPr anchor="ctr">
                    <a:solidFill>
                      <a:srgbClr val="16213E"/>
                    </a:solidFill>
                  </a:tcPr>
                </a:tc>
                <a:tc>
                  <a:txBody>
                    <a:bodyPr/>
                    <a:lstStyle/>
                    <a:p>
                      <a:pPr algn="ctr">
                        <a:defRPr sz="1200" b="1">
                          <a:solidFill>
                            <a:srgbClr val="FFFFFF"/>
                          </a:solidFill>
                        </a:defRPr>
                      </a:pPr>
                      <a:r>
                        <a:rPr sz="2000" dirty="0"/>
                        <a:t>Methodology</a:t>
                      </a:r>
                    </a:p>
                  </a:txBody>
                  <a:tcPr anchor="ctr">
                    <a:solidFill>
                      <a:srgbClr val="16213E"/>
                    </a:solidFill>
                  </a:tcPr>
                </a:tc>
                <a:tc>
                  <a:txBody>
                    <a:bodyPr/>
                    <a:lstStyle/>
                    <a:p>
                      <a:pPr algn="ctr">
                        <a:defRPr sz="1200" b="1">
                          <a:solidFill>
                            <a:srgbClr val="FFFFFF"/>
                          </a:solidFill>
                        </a:defRPr>
                      </a:pPr>
                      <a:r>
                        <a:rPr sz="2000" dirty="0"/>
                        <a:t>Limitations</a:t>
                      </a:r>
                    </a:p>
                  </a:txBody>
                  <a:tcPr anchor="ctr">
                    <a:solidFill>
                      <a:srgbClr val="16213E"/>
                    </a:solidFill>
                  </a:tcPr>
                </a:tc>
                <a:extLst>
                  <a:ext uri="{0D108BD9-81ED-4DB2-BD59-A6C34878D82A}">
                    <a16:rowId xmlns:a16="http://schemas.microsoft.com/office/drawing/2014/main" val="10000"/>
                  </a:ext>
                </a:extLst>
              </a:tr>
              <a:tr h="838200">
                <a:tc>
                  <a:txBody>
                    <a:bodyPr/>
                    <a:lstStyle/>
                    <a:p>
                      <a:pPr algn="l">
                        <a:defRPr sz="1100" b="0">
                          <a:solidFill>
                            <a:srgbClr val="2C2C2C"/>
                          </a:solidFill>
                        </a:defRPr>
                      </a:pPr>
                      <a:r>
                        <a:rPr sz="1600" dirty="0"/>
                        <a:t>Comparative Study of BERT &amp; ChatGPT</a:t>
                      </a:r>
                      <a:r>
                        <a:rPr lang="en-US" sz="1600" dirty="0"/>
                        <a:t> </a:t>
                      </a:r>
                      <a:r>
                        <a:rPr sz="1600" dirty="0"/>
                        <a:t>for Multi-Label Detection with Intensity Scoring</a:t>
                      </a:r>
                    </a:p>
                  </a:txBody>
                  <a:tcPr>
                    <a:solidFill>
                      <a:srgbClr val="FFFFFF"/>
                    </a:solidFill>
                  </a:tcPr>
                </a:tc>
                <a:tc>
                  <a:txBody>
                    <a:bodyPr/>
                    <a:lstStyle/>
                    <a:p>
                      <a:pPr algn="ctr">
                        <a:defRPr sz="1100" b="0">
                          <a:solidFill>
                            <a:srgbClr val="2C2C2C"/>
                          </a:solidFill>
                        </a:defRPr>
                      </a:pPr>
                      <a:r>
                        <a:rPr sz="1600" dirty="0"/>
                        <a:t>2025</a:t>
                      </a:r>
                    </a:p>
                  </a:txBody>
                  <a:tcPr anchor="ctr">
                    <a:solidFill>
                      <a:srgbClr val="FFFFFF"/>
                    </a:solidFill>
                  </a:tcPr>
                </a:tc>
                <a:tc>
                  <a:txBody>
                    <a:bodyPr/>
                    <a:lstStyle/>
                    <a:p>
                      <a:pPr algn="l">
                        <a:defRPr sz="1100" b="0">
                          <a:solidFill>
                            <a:srgbClr val="2C2C2C"/>
                          </a:solidFill>
                        </a:defRPr>
                      </a:pPr>
                      <a:r>
                        <a:rPr sz="1600"/>
                        <a:t>BERT vs. ChatGPT zero-shot classification;</a:t>
                      </a:r>
                    </a:p>
                    <a:p>
                      <a:pPr algn="l">
                        <a:defRPr sz="1100" b="0">
                          <a:solidFill>
                            <a:srgbClr val="2C2C2C"/>
                          </a:solidFill>
                        </a:defRPr>
                      </a:pPr>
                      <a:r>
                        <a:rPr sz="1600"/>
                        <a:t>intensity scoring on 200 annotated comments</a:t>
                      </a:r>
                    </a:p>
                  </a:txBody>
                  <a:tcPr>
                    <a:solidFill>
                      <a:srgbClr val="FFFFFF"/>
                    </a:solidFill>
                  </a:tcPr>
                </a:tc>
                <a:tc>
                  <a:txBody>
                    <a:bodyPr/>
                    <a:lstStyle/>
                    <a:p>
                      <a:pPr algn="l">
                        <a:defRPr sz="1100" b="0">
                          <a:solidFill>
                            <a:srgbClr val="2C2C2C"/>
                          </a:solidFill>
                        </a:defRPr>
                      </a:pPr>
                      <a:r>
                        <a:rPr sz="1600"/>
                        <a:t>Extremely small evaluation set (200 samples);</a:t>
                      </a:r>
                    </a:p>
                    <a:p>
                      <a:pPr algn="l">
                        <a:defRPr sz="1100" b="0">
                          <a:solidFill>
                            <a:srgbClr val="2C2C2C"/>
                          </a:solidFill>
                        </a:defRPr>
                      </a:pPr>
                      <a:r>
                        <a:rPr sz="1600"/>
                        <a:t>no multimodal input considered</a:t>
                      </a:r>
                    </a:p>
                  </a:txBody>
                  <a:tcPr>
                    <a:solidFill>
                      <a:srgbClr val="FFFFFF"/>
                    </a:solidFill>
                  </a:tcPr>
                </a:tc>
                <a:extLst>
                  <a:ext uri="{0D108BD9-81ED-4DB2-BD59-A6C34878D82A}">
                    <a16:rowId xmlns:a16="http://schemas.microsoft.com/office/drawing/2014/main" val="10001"/>
                  </a:ext>
                </a:extLst>
              </a:tr>
              <a:tr h="838200">
                <a:tc>
                  <a:txBody>
                    <a:bodyPr/>
                    <a:lstStyle/>
                    <a:p>
                      <a:pPr algn="l">
                        <a:defRPr sz="1100" b="0">
                          <a:solidFill>
                            <a:srgbClr val="2C2C2C"/>
                          </a:solidFill>
                        </a:defRPr>
                      </a:pPr>
                      <a:r>
                        <a:rPr sz="1600" dirty="0"/>
                        <a:t>Cyberbullying Dataset Collection</a:t>
                      </a:r>
                      <a:r>
                        <a:rPr lang="en-US" sz="1600" dirty="0"/>
                        <a:t> </a:t>
                      </a:r>
                      <a:r>
                        <a:rPr sz="1600" dirty="0"/>
                        <a:t>for Enhanced Detection on Twitter</a:t>
                      </a:r>
                    </a:p>
                  </a:txBody>
                  <a:tcPr>
                    <a:solidFill>
                      <a:srgbClr val="F0F0F5"/>
                    </a:solidFill>
                  </a:tcPr>
                </a:tc>
                <a:tc>
                  <a:txBody>
                    <a:bodyPr/>
                    <a:lstStyle/>
                    <a:p>
                      <a:pPr algn="ctr">
                        <a:defRPr sz="1100" b="0">
                          <a:solidFill>
                            <a:srgbClr val="2C2C2C"/>
                          </a:solidFill>
                        </a:defRPr>
                      </a:pPr>
                      <a:r>
                        <a:rPr sz="1600"/>
                        <a:t>2025</a:t>
                      </a:r>
                    </a:p>
                  </a:txBody>
                  <a:tcPr anchor="ctr">
                    <a:solidFill>
                      <a:srgbClr val="F0F0F5"/>
                    </a:solidFill>
                  </a:tcPr>
                </a:tc>
                <a:tc>
                  <a:txBody>
                    <a:bodyPr/>
                    <a:lstStyle/>
                    <a:p>
                      <a:pPr algn="l">
                        <a:defRPr sz="1100" b="0">
                          <a:solidFill>
                            <a:srgbClr val="2C2C2C"/>
                          </a:solidFill>
                        </a:defRPr>
                      </a:pPr>
                      <a:r>
                        <a:rPr sz="1600"/>
                        <a:t>Bi-LSTM deep learning model;</a:t>
                      </a:r>
                    </a:p>
                    <a:p>
                      <a:pPr algn="l">
                        <a:defRPr sz="1100" b="0">
                          <a:solidFill>
                            <a:srgbClr val="2C2C2C"/>
                          </a:solidFill>
                        </a:defRPr>
                      </a:pPr>
                      <a:r>
                        <a:rPr sz="1600"/>
                        <a:t>new 18,148-tweet labeled dataset</a:t>
                      </a:r>
                    </a:p>
                  </a:txBody>
                  <a:tcPr>
                    <a:solidFill>
                      <a:srgbClr val="F0F0F5"/>
                    </a:solidFill>
                  </a:tcPr>
                </a:tc>
                <a:tc>
                  <a:txBody>
                    <a:bodyPr/>
                    <a:lstStyle/>
                    <a:p>
                      <a:pPr algn="l">
                        <a:defRPr sz="1100" b="0">
                          <a:solidFill>
                            <a:srgbClr val="2C2C2C"/>
                          </a:solidFill>
                        </a:defRPr>
                      </a:pPr>
                      <a:r>
                        <a:rPr sz="1600" dirty="0"/>
                        <a:t>Restricted to text-only analysis;</a:t>
                      </a:r>
                    </a:p>
                    <a:p>
                      <a:pPr algn="l">
                        <a:defRPr sz="1100" b="0">
                          <a:solidFill>
                            <a:srgbClr val="2C2C2C"/>
                          </a:solidFill>
                        </a:defRPr>
                      </a:pPr>
                      <a:r>
                        <a:rPr sz="1600" dirty="0"/>
                        <a:t>binary classification without severity grading</a:t>
                      </a:r>
                    </a:p>
                  </a:txBody>
                  <a:tcPr>
                    <a:solidFill>
                      <a:srgbClr val="F0F0F5"/>
                    </a:solidFill>
                  </a:tcPr>
                </a:tc>
                <a:extLst>
                  <a:ext uri="{0D108BD9-81ED-4DB2-BD59-A6C34878D82A}">
                    <a16:rowId xmlns:a16="http://schemas.microsoft.com/office/drawing/2014/main" val="10002"/>
                  </a:ext>
                </a:extLst>
              </a:tr>
              <a:tr h="838200">
                <a:tc>
                  <a:txBody>
                    <a:bodyPr/>
                    <a:lstStyle/>
                    <a:p>
                      <a:pPr algn="l">
                        <a:defRPr sz="1100" b="0">
                          <a:solidFill>
                            <a:srgbClr val="2C2C2C"/>
                          </a:solidFill>
                        </a:defRPr>
                      </a:pPr>
                      <a:r>
                        <a:rPr sz="1600" dirty="0"/>
                        <a:t>Real-Time Detection Across</a:t>
                      </a:r>
                      <a:r>
                        <a:rPr lang="en-US" sz="1600" dirty="0"/>
                        <a:t> </a:t>
                      </a:r>
                      <a:r>
                        <a:rPr sz="1600" dirty="0"/>
                        <a:t>Multimodal Platforms Using XLNET &amp; Deep CNN</a:t>
                      </a:r>
                    </a:p>
                  </a:txBody>
                  <a:tcPr>
                    <a:solidFill>
                      <a:srgbClr val="FFFFFF"/>
                    </a:solidFill>
                  </a:tcPr>
                </a:tc>
                <a:tc>
                  <a:txBody>
                    <a:bodyPr/>
                    <a:lstStyle/>
                    <a:p>
                      <a:pPr algn="ctr">
                        <a:defRPr sz="1100" b="0">
                          <a:solidFill>
                            <a:srgbClr val="2C2C2C"/>
                          </a:solidFill>
                        </a:defRPr>
                      </a:pPr>
                      <a:r>
                        <a:rPr sz="1600"/>
                        <a:t>2025</a:t>
                      </a:r>
                    </a:p>
                  </a:txBody>
                  <a:tcPr anchor="ctr">
                    <a:solidFill>
                      <a:srgbClr val="FFFFFF"/>
                    </a:solidFill>
                  </a:tcPr>
                </a:tc>
                <a:tc>
                  <a:txBody>
                    <a:bodyPr/>
                    <a:lstStyle/>
                    <a:p>
                      <a:pPr algn="l">
                        <a:defRPr sz="1100" b="0">
                          <a:solidFill>
                            <a:srgbClr val="2C2C2C"/>
                          </a:solidFill>
                        </a:defRPr>
                      </a:pPr>
                      <a:r>
                        <a:rPr sz="1600"/>
                        <a:t>Hybrid XLNET + Deep CNN;</a:t>
                      </a:r>
                    </a:p>
                    <a:p>
                      <a:pPr algn="l">
                        <a:defRPr sz="1100" b="0">
                          <a:solidFill>
                            <a:srgbClr val="2C2C2C"/>
                          </a:solidFill>
                        </a:defRPr>
                      </a:pPr>
                      <a:r>
                        <a:rPr sz="1600"/>
                        <a:t>cross-modal interaction evaluation</a:t>
                      </a:r>
                    </a:p>
                  </a:txBody>
                  <a:tcPr>
                    <a:solidFill>
                      <a:srgbClr val="FFFFFF"/>
                    </a:solidFill>
                  </a:tcPr>
                </a:tc>
                <a:tc>
                  <a:txBody>
                    <a:bodyPr/>
                    <a:lstStyle/>
                    <a:p>
                      <a:pPr algn="l">
                        <a:defRPr sz="1100" b="0">
                          <a:solidFill>
                            <a:srgbClr val="2C2C2C"/>
                          </a:solidFill>
                        </a:defRPr>
                      </a:pPr>
                      <a:r>
                        <a:rPr sz="1600"/>
                        <a:t>Computationally expensive;</a:t>
                      </a:r>
                    </a:p>
                    <a:p>
                      <a:pPr algn="l">
                        <a:defRPr sz="1100" b="0">
                          <a:solidFill>
                            <a:srgbClr val="2C2C2C"/>
                          </a:solidFill>
                        </a:defRPr>
                      </a:pPr>
                      <a:r>
                        <a:rPr sz="1600"/>
                        <a:t>no hardware optimization for limited VRAM</a:t>
                      </a:r>
                    </a:p>
                  </a:txBody>
                  <a:tcPr>
                    <a:solidFill>
                      <a:srgbClr val="FFFFFF"/>
                    </a:solidFill>
                  </a:tcPr>
                </a:tc>
                <a:extLst>
                  <a:ext uri="{0D108BD9-81ED-4DB2-BD59-A6C34878D82A}">
                    <a16:rowId xmlns:a16="http://schemas.microsoft.com/office/drawing/2014/main" val="10003"/>
                  </a:ext>
                </a:extLst>
              </a:tr>
              <a:tr h="838200">
                <a:tc>
                  <a:txBody>
                    <a:bodyPr/>
                    <a:lstStyle/>
                    <a:p>
                      <a:pPr algn="l">
                        <a:defRPr sz="1100" b="0">
                          <a:solidFill>
                            <a:srgbClr val="2C2C2C"/>
                          </a:solidFill>
                        </a:defRPr>
                      </a:pPr>
                      <a:r>
                        <a:rPr sz="1600" dirty="0"/>
                        <a:t>Comprehensive DL Framework</a:t>
                      </a:r>
                      <a:r>
                        <a:rPr lang="en-US" sz="1600" dirty="0"/>
                        <a:t> </a:t>
                      </a:r>
                      <a:r>
                        <a:rPr sz="1600" dirty="0"/>
                        <a:t>for Multimodal Cyberbullying Detection</a:t>
                      </a:r>
                    </a:p>
                  </a:txBody>
                  <a:tcPr>
                    <a:solidFill>
                      <a:srgbClr val="F0F0F5"/>
                    </a:solidFill>
                  </a:tcPr>
                </a:tc>
                <a:tc>
                  <a:txBody>
                    <a:bodyPr/>
                    <a:lstStyle/>
                    <a:p>
                      <a:pPr algn="ctr">
                        <a:defRPr sz="1100" b="0">
                          <a:solidFill>
                            <a:srgbClr val="2C2C2C"/>
                          </a:solidFill>
                        </a:defRPr>
                      </a:pPr>
                      <a:r>
                        <a:rPr sz="1600"/>
                        <a:t>2025</a:t>
                      </a:r>
                    </a:p>
                  </a:txBody>
                  <a:tcPr anchor="ctr">
                    <a:solidFill>
                      <a:srgbClr val="F0F0F5"/>
                    </a:solidFill>
                  </a:tcPr>
                </a:tc>
                <a:tc>
                  <a:txBody>
                    <a:bodyPr/>
                    <a:lstStyle/>
                    <a:p>
                      <a:pPr algn="l">
                        <a:defRPr sz="1100" b="0">
                          <a:solidFill>
                            <a:srgbClr val="2C2C2C"/>
                          </a:solidFill>
                        </a:defRPr>
                      </a:pPr>
                      <a:r>
                        <a:rPr sz="1600"/>
                        <a:t>BERT + ResNet50 + social metadata;</a:t>
                      </a:r>
                    </a:p>
                    <a:p>
                      <a:pPr algn="l">
                        <a:defRPr sz="1100" b="0">
                          <a:solidFill>
                            <a:srgbClr val="2C2C2C"/>
                          </a:solidFill>
                        </a:defRPr>
                      </a:pPr>
                      <a:r>
                        <a:rPr sz="1600"/>
                        <a:t>attention-based fusion (92.7% accuracy)</a:t>
                      </a:r>
                    </a:p>
                  </a:txBody>
                  <a:tcPr>
                    <a:solidFill>
                      <a:srgbClr val="F0F0F5"/>
                    </a:solidFill>
                  </a:tcPr>
                </a:tc>
                <a:tc>
                  <a:txBody>
                    <a:bodyPr/>
                    <a:lstStyle/>
                    <a:p>
                      <a:pPr algn="l">
                        <a:defRPr sz="1100" b="0">
                          <a:solidFill>
                            <a:srgbClr val="2C2C2C"/>
                          </a:solidFill>
                        </a:defRPr>
                      </a:pPr>
                      <a:r>
                        <a:rPr sz="1600"/>
                        <a:t>Small dataset (~5,793 samples);</a:t>
                      </a:r>
                    </a:p>
                    <a:p>
                      <a:pPr algn="l">
                        <a:defRPr sz="1100" b="0">
                          <a:solidFill>
                            <a:srgbClr val="2C2C2C"/>
                          </a:solidFill>
                        </a:defRPr>
                      </a:pPr>
                      <a:r>
                        <a:rPr sz="1600"/>
                        <a:t>no OCR for text-in-image detection</a:t>
                      </a:r>
                    </a:p>
                  </a:txBody>
                  <a:tcPr>
                    <a:solidFill>
                      <a:srgbClr val="F0F0F5"/>
                    </a:solidFill>
                  </a:tcPr>
                </a:tc>
                <a:extLst>
                  <a:ext uri="{0D108BD9-81ED-4DB2-BD59-A6C34878D82A}">
                    <a16:rowId xmlns:a16="http://schemas.microsoft.com/office/drawing/2014/main" val="10004"/>
                  </a:ext>
                </a:extLst>
              </a:tr>
              <a:tr h="838200">
                <a:tc>
                  <a:txBody>
                    <a:bodyPr/>
                    <a:lstStyle/>
                    <a:p>
                      <a:pPr algn="l">
                        <a:defRPr sz="1100" b="0">
                          <a:solidFill>
                            <a:srgbClr val="2C2C2C"/>
                          </a:solidFill>
                        </a:defRPr>
                      </a:pPr>
                      <a:r>
                        <a:rPr sz="1600" dirty="0"/>
                        <a:t>Hierarchical Multi-Stage BERT</a:t>
                      </a:r>
                      <a:r>
                        <a:rPr lang="en-US" sz="1600" dirty="0"/>
                        <a:t> </a:t>
                      </a:r>
                      <a:r>
                        <a:rPr sz="1600" dirty="0"/>
                        <a:t>Fusion with Dual Attention</a:t>
                      </a:r>
                    </a:p>
                  </a:txBody>
                  <a:tcPr>
                    <a:solidFill>
                      <a:srgbClr val="FFFFFF"/>
                    </a:solidFill>
                  </a:tcPr>
                </a:tc>
                <a:tc>
                  <a:txBody>
                    <a:bodyPr/>
                    <a:lstStyle/>
                    <a:p>
                      <a:pPr algn="ctr">
                        <a:defRPr sz="1100" b="0">
                          <a:solidFill>
                            <a:srgbClr val="2C2C2C"/>
                          </a:solidFill>
                        </a:defRPr>
                      </a:pPr>
                      <a:r>
                        <a:rPr sz="1600" dirty="0"/>
                        <a:t>2024</a:t>
                      </a:r>
                    </a:p>
                  </a:txBody>
                  <a:tcPr anchor="ctr">
                    <a:solidFill>
                      <a:srgbClr val="FFFFFF"/>
                    </a:solidFill>
                  </a:tcPr>
                </a:tc>
                <a:tc>
                  <a:txBody>
                    <a:bodyPr/>
                    <a:lstStyle/>
                    <a:p>
                      <a:pPr algn="l">
                        <a:defRPr sz="1100" b="0">
                          <a:solidFill>
                            <a:srgbClr val="2C2C2C"/>
                          </a:solidFill>
                        </a:defRPr>
                      </a:pPr>
                      <a:r>
                        <a:rPr sz="1600" dirty="0"/>
                        <a:t>Hierarchical BERT + dual attention</a:t>
                      </a:r>
                    </a:p>
                    <a:p>
                      <a:pPr algn="l">
                        <a:defRPr sz="1100" b="0">
                          <a:solidFill>
                            <a:srgbClr val="2C2C2C"/>
                          </a:solidFill>
                        </a:defRPr>
                      </a:pPr>
                      <a:r>
                        <a:rPr sz="1600" dirty="0"/>
                        <a:t>(self-attention + cross-attention)</a:t>
                      </a:r>
                    </a:p>
                  </a:txBody>
                  <a:tcPr>
                    <a:solidFill>
                      <a:srgbClr val="FFFFFF"/>
                    </a:solidFill>
                  </a:tcPr>
                </a:tc>
                <a:tc>
                  <a:txBody>
                    <a:bodyPr/>
                    <a:lstStyle/>
                    <a:p>
                      <a:pPr algn="l">
                        <a:defRPr sz="1100" b="0">
                          <a:solidFill>
                            <a:srgbClr val="2C2C2C"/>
                          </a:solidFill>
                        </a:defRPr>
                      </a:pPr>
                      <a:r>
                        <a:rPr sz="1600" dirty="0"/>
                        <a:t>Text-only processing;</a:t>
                      </a:r>
                    </a:p>
                    <a:p>
                      <a:pPr algn="l">
                        <a:defRPr sz="1100" b="0">
                          <a:solidFill>
                            <a:srgbClr val="2C2C2C"/>
                          </a:solidFill>
                        </a:defRPr>
                      </a:pPr>
                      <a:r>
                        <a:rPr sz="1600" dirty="0"/>
                        <a:t>overly complex multi-stage pipeline</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8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800"/>
            <a:ext cx="12191695" cy="7112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wrap="square" lIns="508000" rtlCol="0" anchor="ctr"/>
          <a:lstStyle/>
          <a:p>
            <a:pPr algn="l">
              <a:defRPr sz="3000" b="1">
                <a:solidFill>
                  <a:srgbClr val="FFFFFF"/>
                </a:solidFill>
              </a:defRPr>
            </a:pPr>
            <a:r>
              <a:rPr dirty="0"/>
              <a:t>LITERATURE REVIEW</a:t>
            </a:r>
          </a:p>
        </p:txBody>
      </p:sp>
      <p:sp>
        <p:nvSpPr>
          <p:cNvPr id="4" name="TextBox 3"/>
          <p:cNvSpPr txBox="1"/>
          <p:nvPr/>
        </p:nvSpPr>
        <p:spPr>
          <a:xfrm>
            <a:off x="11277295" y="6502400"/>
            <a:ext cx="731520" cy="279400"/>
          </a:xfrm>
          <a:prstGeom prst="rect">
            <a:avLst/>
          </a:prstGeom>
          <a:noFill/>
        </p:spPr>
        <p:txBody>
          <a:bodyPr wrap="none">
            <a:spAutoFit/>
          </a:bodyPr>
          <a:lstStyle/>
          <a:p>
            <a:pPr algn="r">
              <a:defRPr sz="1000">
                <a:solidFill>
                  <a:srgbClr val="888888"/>
                </a:solidFill>
              </a:defRPr>
            </a:pPr>
            <a:r>
              <a:t>4</a:t>
            </a:r>
          </a:p>
        </p:txBody>
      </p:sp>
      <p:graphicFrame>
        <p:nvGraphicFramePr>
          <p:cNvPr id="5" name="Table 4"/>
          <p:cNvGraphicFramePr>
            <a:graphicFrameLocks noGrp="1"/>
          </p:cNvGraphicFramePr>
          <p:nvPr>
            <p:extLst>
              <p:ext uri="{D42A27DB-BD31-4B8C-83A1-F6EECF244321}">
                <p14:modId xmlns:p14="http://schemas.microsoft.com/office/powerpoint/2010/main" val="740602653"/>
              </p:ext>
            </p:extLst>
          </p:nvPr>
        </p:nvGraphicFramePr>
        <p:xfrm>
          <a:off x="274320" y="1097280"/>
          <a:ext cx="11617200" cy="5257800"/>
        </p:xfrm>
        <a:graphic>
          <a:graphicData uri="http://schemas.openxmlformats.org/drawingml/2006/table">
            <a:tbl>
              <a:tblPr firstRow="1" bandRow="1">
                <a:tableStyleId>{5C22544A-7EE6-4342-B048-85BDC9FD1C3A}</a:tableStyleId>
              </a:tblPr>
              <a:tblGrid>
                <a:gridCol w="3708000">
                  <a:extLst>
                    <a:ext uri="{9D8B030D-6E8A-4147-A177-3AD203B41FA5}">
                      <a16:colId xmlns:a16="http://schemas.microsoft.com/office/drawing/2014/main" val="20000"/>
                    </a:ext>
                  </a:extLst>
                </a:gridCol>
                <a:gridCol w="982800">
                  <a:extLst>
                    <a:ext uri="{9D8B030D-6E8A-4147-A177-3AD203B41FA5}">
                      <a16:colId xmlns:a16="http://schemas.microsoft.com/office/drawing/2014/main" val="20001"/>
                    </a:ext>
                  </a:extLst>
                </a:gridCol>
                <a:gridCol w="3506400">
                  <a:extLst>
                    <a:ext uri="{9D8B030D-6E8A-4147-A177-3AD203B41FA5}">
                      <a16:colId xmlns:a16="http://schemas.microsoft.com/office/drawing/2014/main" val="20002"/>
                    </a:ext>
                  </a:extLst>
                </a:gridCol>
                <a:gridCol w="3420000">
                  <a:extLst>
                    <a:ext uri="{9D8B030D-6E8A-4147-A177-3AD203B41FA5}">
                      <a16:colId xmlns:a16="http://schemas.microsoft.com/office/drawing/2014/main" val="20003"/>
                    </a:ext>
                  </a:extLst>
                </a:gridCol>
              </a:tblGrid>
              <a:tr h="838200">
                <a:tc>
                  <a:txBody>
                    <a:bodyPr/>
                    <a:lstStyle/>
                    <a:p>
                      <a:pPr algn="ctr">
                        <a:defRPr sz="1200" b="1">
                          <a:solidFill>
                            <a:srgbClr val="FFFFFF"/>
                          </a:solidFill>
                        </a:defRPr>
                      </a:pPr>
                      <a:r>
                        <a:rPr sz="2000" dirty="0"/>
                        <a:t>Research Paper</a:t>
                      </a:r>
                    </a:p>
                  </a:txBody>
                  <a:tcPr anchor="ctr">
                    <a:solidFill>
                      <a:srgbClr val="16213E"/>
                    </a:solidFill>
                  </a:tcPr>
                </a:tc>
                <a:tc>
                  <a:txBody>
                    <a:bodyPr/>
                    <a:lstStyle/>
                    <a:p>
                      <a:pPr algn="ctr">
                        <a:defRPr sz="1200" b="1">
                          <a:solidFill>
                            <a:srgbClr val="FFFFFF"/>
                          </a:solidFill>
                        </a:defRPr>
                      </a:pPr>
                      <a:r>
                        <a:rPr sz="2000" dirty="0"/>
                        <a:t>Year</a:t>
                      </a:r>
                    </a:p>
                  </a:txBody>
                  <a:tcPr anchor="ctr">
                    <a:solidFill>
                      <a:srgbClr val="16213E"/>
                    </a:solidFill>
                  </a:tcPr>
                </a:tc>
                <a:tc>
                  <a:txBody>
                    <a:bodyPr/>
                    <a:lstStyle/>
                    <a:p>
                      <a:pPr algn="ctr">
                        <a:defRPr sz="1200" b="1">
                          <a:solidFill>
                            <a:srgbClr val="FFFFFF"/>
                          </a:solidFill>
                        </a:defRPr>
                      </a:pPr>
                      <a:r>
                        <a:rPr sz="2000" dirty="0"/>
                        <a:t>Methodology</a:t>
                      </a:r>
                    </a:p>
                  </a:txBody>
                  <a:tcPr anchor="ctr">
                    <a:solidFill>
                      <a:srgbClr val="16213E"/>
                    </a:solidFill>
                  </a:tcPr>
                </a:tc>
                <a:tc>
                  <a:txBody>
                    <a:bodyPr/>
                    <a:lstStyle/>
                    <a:p>
                      <a:pPr algn="ctr">
                        <a:defRPr sz="1200" b="1">
                          <a:solidFill>
                            <a:srgbClr val="FFFFFF"/>
                          </a:solidFill>
                        </a:defRPr>
                      </a:pPr>
                      <a:r>
                        <a:rPr sz="2000" dirty="0"/>
                        <a:t>Limitations</a:t>
                      </a:r>
                    </a:p>
                  </a:txBody>
                  <a:tcPr anchor="ctr">
                    <a:solidFill>
                      <a:srgbClr val="16213E"/>
                    </a:solidFill>
                  </a:tcPr>
                </a:tc>
                <a:extLst>
                  <a:ext uri="{0D108BD9-81ED-4DB2-BD59-A6C34878D82A}">
                    <a16:rowId xmlns:a16="http://schemas.microsoft.com/office/drawing/2014/main" val="10000"/>
                  </a:ext>
                </a:extLst>
              </a:tr>
              <a:tr h="838200">
                <a:tc>
                  <a:txBody>
                    <a:bodyPr/>
                    <a:lstStyle/>
                    <a:p>
                      <a:pPr algn="l">
                        <a:defRPr sz="1100" b="0">
                          <a:solidFill>
                            <a:srgbClr val="2C2C2C"/>
                          </a:solidFill>
                        </a:defRPr>
                      </a:pPr>
                      <a:r>
                        <a:rPr sz="1600" dirty="0"/>
                        <a:t>Enhancing Cyberbullying</a:t>
                      </a:r>
                      <a:r>
                        <a:rPr lang="en-US" sz="1600" dirty="0"/>
                        <a:t> </a:t>
                      </a:r>
                      <a:r>
                        <a:rPr sz="1600" dirty="0"/>
                        <a:t>Detection Using Transformer Models</a:t>
                      </a:r>
                    </a:p>
                  </a:txBody>
                  <a:tcPr>
                    <a:solidFill>
                      <a:srgbClr val="FFFFFF"/>
                    </a:solidFill>
                  </a:tcPr>
                </a:tc>
                <a:tc>
                  <a:txBody>
                    <a:bodyPr/>
                    <a:lstStyle/>
                    <a:p>
                      <a:pPr algn="ctr">
                        <a:defRPr sz="1100" b="0">
                          <a:solidFill>
                            <a:srgbClr val="2C2C2C"/>
                          </a:solidFill>
                        </a:defRPr>
                      </a:pPr>
                      <a:r>
                        <a:rPr sz="1600"/>
                        <a:t>2024</a:t>
                      </a:r>
                    </a:p>
                  </a:txBody>
                  <a:tcPr anchor="ctr">
                    <a:solidFill>
                      <a:srgbClr val="FFFFFF"/>
                    </a:solidFill>
                  </a:tcPr>
                </a:tc>
                <a:tc>
                  <a:txBody>
                    <a:bodyPr/>
                    <a:lstStyle/>
                    <a:p>
                      <a:pPr algn="l">
                        <a:defRPr sz="1100" b="0">
                          <a:solidFill>
                            <a:srgbClr val="2C2C2C"/>
                          </a:solidFill>
                        </a:defRPr>
                      </a:pPr>
                      <a:r>
                        <a:rPr sz="1600"/>
                        <a:t>Comparison of 5 transformers (BERT, RoBERTa,</a:t>
                      </a:r>
                    </a:p>
                    <a:p>
                      <a:pPr algn="l">
                        <a:defRPr sz="1100" b="0">
                          <a:solidFill>
                            <a:srgbClr val="2C2C2C"/>
                          </a:solidFill>
                        </a:defRPr>
                      </a:pPr>
                      <a:r>
                        <a:rPr sz="1600"/>
                        <a:t>DistilBERT); 5-class task (94.36% accuracy)</a:t>
                      </a:r>
                    </a:p>
                  </a:txBody>
                  <a:tcPr>
                    <a:solidFill>
                      <a:srgbClr val="FFFFFF"/>
                    </a:solidFill>
                  </a:tcPr>
                </a:tc>
                <a:tc>
                  <a:txBody>
                    <a:bodyPr/>
                    <a:lstStyle/>
                    <a:p>
                      <a:pPr algn="l">
                        <a:defRPr sz="1100" b="0">
                          <a:solidFill>
                            <a:srgbClr val="2C2C2C"/>
                          </a:solidFill>
                        </a:defRPr>
                      </a:pPr>
                      <a:r>
                        <a:rPr sz="1600"/>
                        <a:t>Text-only analysis;</a:t>
                      </a:r>
                    </a:p>
                    <a:p>
                      <a:pPr algn="l">
                        <a:defRPr sz="1100" b="0">
                          <a:solidFill>
                            <a:srgbClr val="2C2C2C"/>
                          </a:solidFill>
                        </a:defRPr>
                      </a:pPr>
                      <a:r>
                        <a:rPr sz="1600"/>
                        <a:t>no image or multimodal support</a:t>
                      </a:r>
                    </a:p>
                  </a:txBody>
                  <a:tcPr>
                    <a:solidFill>
                      <a:srgbClr val="FFFFFF"/>
                    </a:solidFill>
                  </a:tcPr>
                </a:tc>
                <a:extLst>
                  <a:ext uri="{0D108BD9-81ED-4DB2-BD59-A6C34878D82A}">
                    <a16:rowId xmlns:a16="http://schemas.microsoft.com/office/drawing/2014/main" val="10001"/>
                  </a:ext>
                </a:extLst>
              </a:tr>
              <a:tr h="838200">
                <a:tc>
                  <a:txBody>
                    <a:bodyPr/>
                    <a:lstStyle/>
                    <a:p>
                      <a:pPr algn="l">
                        <a:defRPr sz="1100" b="0">
                          <a:solidFill>
                            <a:srgbClr val="2C2C2C"/>
                          </a:solidFill>
                        </a:defRPr>
                      </a:pPr>
                      <a:r>
                        <a:rPr sz="1600" dirty="0" err="1"/>
                        <a:t>BulliShield</a:t>
                      </a:r>
                      <a:r>
                        <a:rPr sz="1600" dirty="0"/>
                        <a:t>: Smart Cyberbullying</a:t>
                      </a:r>
                      <a:r>
                        <a:rPr lang="en-US" sz="1600" dirty="0"/>
                        <a:t> </a:t>
                      </a:r>
                      <a:r>
                        <a:rPr sz="1600" dirty="0"/>
                        <a:t>Detection and Reporting System</a:t>
                      </a:r>
                    </a:p>
                  </a:txBody>
                  <a:tcPr>
                    <a:solidFill>
                      <a:srgbClr val="F0F0F5"/>
                    </a:solidFill>
                  </a:tcPr>
                </a:tc>
                <a:tc>
                  <a:txBody>
                    <a:bodyPr/>
                    <a:lstStyle/>
                    <a:p>
                      <a:pPr algn="ctr">
                        <a:defRPr sz="1100" b="0">
                          <a:solidFill>
                            <a:srgbClr val="2C2C2C"/>
                          </a:solidFill>
                        </a:defRPr>
                      </a:pPr>
                      <a:r>
                        <a:rPr sz="1600"/>
                        <a:t>2024</a:t>
                      </a:r>
                    </a:p>
                  </a:txBody>
                  <a:tcPr anchor="ctr">
                    <a:solidFill>
                      <a:srgbClr val="F0F0F5"/>
                    </a:solidFill>
                  </a:tcPr>
                </a:tc>
                <a:tc>
                  <a:txBody>
                    <a:bodyPr/>
                    <a:lstStyle/>
                    <a:p>
                      <a:pPr algn="l">
                        <a:defRPr sz="1100" b="0">
                          <a:solidFill>
                            <a:srgbClr val="2C2C2C"/>
                          </a:solidFill>
                        </a:defRPr>
                      </a:pPr>
                      <a:r>
                        <a:rPr sz="1600"/>
                        <a:t>OCR-based text extraction + deep learning;</a:t>
                      </a:r>
                    </a:p>
                    <a:p>
                      <a:pPr algn="l">
                        <a:defRPr sz="1100" b="0">
                          <a:solidFill>
                            <a:srgbClr val="2C2C2C"/>
                          </a:solidFill>
                        </a:defRPr>
                      </a:pPr>
                      <a:r>
                        <a:rPr sz="1600"/>
                        <a:t>cross-platform reporting application</a:t>
                      </a:r>
                    </a:p>
                  </a:txBody>
                  <a:tcPr>
                    <a:solidFill>
                      <a:srgbClr val="F0F0F5"/>
                    </a:solidFill>
                  </a:tcPr>
                </a:tc>
                <a:tc>
                  <a:txBody>
                    <a:bodyPr/>
                    <a:lstStyle/>
                    <a:p>
                      <a:pPr algn="l">
                        <a:defRPr sz="1100" b="0">
                          <a:solidFill>
                            <a:srgbClr val="2C2C2C"/>
                          </a:solidFill>
                        </a:defRPr>
                      </a:pPr>
                      <a:r>
                        <a:rPr sz="1600"/>
                        <a:t>Limited to English and Bangla;</a:t>
                      </a:r>
                    </a:p>
                    <a:p>
                      <a:pPr algn="l">
                        <a:defRPr sz="1100" b="0">
                          <a:solidFill>
                            <a:srgbClr val="2C2C2C"/>
                          </a:solidFill>
                        </a:defRPr>
                      </a:pPr>
                      <a:r>
                        <a:rPr sz="1600"/>
                        <a:t>no cross-modal fusion model</a:t>
                      </a:r>
                    </a:p>
                  </a:txBody>
                  <a:tcPr>
                    <a:solidFill>
                      <a:srgbClr val="F0F0F5"/>
                    </a:solidFill>
                  </a:tcPr>
                </a:tc>
                <a:extLst>
                  <a:ext uri="{0D108BD9-81ED-4DB2-BD59-A6C34878D82A}">
                    <a16:rowId xmlns:a16="http://schemas.microsoft.com/office/drawing/2014/main" val="10002"/>
                  </a:ext>
                </a:extLst>
              </a:tr>
              <a:tr h="838200">
                <a:tc>
                  <a:txBody>
                    <a:bodyPr/>
                    <a:lstStyle/>
                    <a:p>
                      <a:pPr algn="l">
                        <a:defRPr sz="1100" b="0">
                          <a:solidFill>
                            <a:srgbClr val="2C2C2C"/>
                          </a:solidFill>
                        </a:defRPr>
                      </a:pPr>
                      <a:r>
                        <a:rPr sz="1600" dirty="0"/>
                        <a:t>Emotion-Driven Detection:</a:t>
                      </a:r>
                      <a:r>
                        <a:rPr lang="en-US" sz="1600" dirty="0"/>
                        <a:t> </a:t>
                      </a:r>
                      <a:r>
                        <a:rPr sz="1600" dirty="0"/>
                        <a:t>Hybrid CNN-LSTM and BERT</a:t>
                      </a:r>
                    </a:p>
                  </a:txBody>
                  <a:tcPr>
                    <a:solidFill>
                      <a:srgbClr val="FFFFFF"/>
                    </a:solidFill>
                  </a:tcPr>
                </a:tc>
                <a:tc>
                  <a:txBody>
                    <a:bodyPr/>
                    <a:lstStyle/>
                    <a:p>
                      <a:pPr algn="ctr">
                        <a:defRPr sz="1100" b="0">
                          <a:solidFill>
                            <a:srgbClr val="2C2C2C"/>
                          </a:solidFill>
                        </a:defRPr>
                      </a:pPr>
                      <a:r>
                        <a:rPr sz="1600"/>
                        <a:t>2024</a:t>
                      </a:r>
                    </a:p>
                  </a:txBody>
                  <a:tcPr anchor="ctr">
                    <a:solidFill>
                      <a:srgbClr val="FFFFFF"/>
                    </a:solidFill>
                  </a:tcPr>
                </a:tc>
                <a:tc>
                  <a:txBody>
                    <a:bodyPr/>
                    <a:lstStyle/>
                    <a:p>
                      <a:pPr algn="l">
                        <a:defRPr sz="1100" b="0">
                          <a:solidFill>
                            <a:srgbClr val="2C2C2C"/>
                          </a:solidFill>
                        </a:defRPr>
                      </a:pPr>
                      <a:r>
                        <a:rPr sz="1600"/>
                        <a:t>CNN-LSTM + BERT with GloVe/FastText</a:t>
                      </a:r>
                    </a:p>
                    <a:p>
                      <a:pPr algn="l">
                        <a:defRPr sz="1100" b="0">
                          <a:solidFill>
                            <a:srgbClr val="2C2C2C"/>
                          </a:solidFill>
                        </a:defRPr>
                      </a:pPr>
                      <a:r>
                        <a:rPr sz="1600"/>
                        <a:t>embeddings; emotion analysis (F1: 0.97)</a:t>
                      </a:r>
                    </a:p>
                  </a:txBody>
                  <a:tcPr>
                    <a:solidFill>
                      <a:srgbClr val="FFFFFF"/>
                    </a:solidFill>
                  </a:tcPr>
                </a:tc>
                <a:tc>
                  <a:txBody>
                    <a:bodyPr/>
                    <a:lstStyle/>
                    <a:p>
                      <a:pPr algn="l">
                        <a:defRPr sz="1100" b="0">
                          <a:solidFill>
                            <a:srgbClr val="2C2C2C"/>
                          </a:solidFill>
                        </a:defRPr>
                      </a:pPr>
                      <a:r>
                        <a:rPr sz="1600"/>
                        <a:t>Focused on emotional dimension only;</a:t>
                      </a:r>
                    </a:p>
                    <a:p>
                      <a:pPr algn="l">
                        <a:defRPr sz="1100" b="0">
                          <a:solidFill>
                            <a:srgbClr val="2C2C2C"/>
                          </a:solidFill>
                        </a:defRPr>
                      </a:pPr>
                      <a:r>
                        <a:rPr sz="1600"/>
                        <a:t>no visual modality processing</a:t>
                      </a:r>
                    </a:p>
                  </a:txBody>
                  <a:tcPr>
                    <a:solidFill>
                      <a:srgbClr val="FFFFFF"/>
                    </a:solidFill>
                  </a:tcPr>
                </a:tc>
                <a:extLst>
                  <a:ext uri="{0D108BD9-81ED-4DB2-BD59-A6C34878D82A}">
                    <a16:rowId xmlns:a16="http://schemas.microsoft.com/office/drawing/2014/main" val="10003"/>
                  </a:ext>
                </a:extLst>
              </a:tr>
              <a:tr h="838200">
                <a:tc>
                  <a:txBody>
                    <a:bodyPr/>
                    <a:lstStyle/>
                    <a:p>
                      <a:pPr algn="l">
                        <a:defRPr sz="1100" b="0">
                          <a:solidFill>
                            <a:srgbClr val="2C2C2C"/>
                          </a:solidFill>
                        </a:defRPr>
                      </a:pPr>
                      <a:r>
                        <a:rPr sz="1600" dirty="0"/>
                        <a:t>Integrating Link Prediction</a:t>
                      </a:r>
                      <a:r>
                        <a:rPr lang="en-US" sz="1600" dirty="0"/>
                        <a:t> </a:t>
                      </a:r>
                      <a:r>
                        <a:rPr sz="1600" dirty="0"/>
                        <a:t>and Comment Analysis</a:t>
                      </a:r>
                    </a:p>
                  </a:txBody>
                  <a:tcPr>
                    <a:solidFill>
                      <a:srgbClr val="F0F0F5"/>
                    </a:solidFill>
                  </a:tcPr>
                </a:tc>
                <a:tc>
                  <a:txBody>
                    <a:bodyPr/>
                    <a:lstStyle/>
                    <a:p>
                      <a:pPr algn="ctr">
                        <a:defRPr sz="1100" b="0">
                          <a:solidFill>
                            <a:srgbClr val="2C2C2C"/>
                          </a:solidFill>
                        </a:defRPr>
                      </a:pPr>
                      <a:r>
                        <a:rPr sz="1600"/>
                        <a:t>2024</a:t>
                      </a:r>
                    </a:p>
                  </a:txBody>
                  <a:tcPr anchor="ctr">
                    <a:solidFill>
                      <a:srgbClr val="F0F0F5"/>
                    </a:solidFill>
                  </a:tcPr>
                </a:tc>
                <a:tc>
                  <a:txBody>
                    <a:bodyPr/>
                    <a:lstStyle/>
                    <a:p>
                      <a:pPr algn="l">
                        <a:defRPr sz="1100" b="0">
                          <a:solidFill>
                            <a:srgbClr val="2C2C2C"/>
                          </a:solidFill>
                        </a:defRPr>
                      </a:pPr>
                      <a:r>
                        <a:rPr sz="1600"/>
                        <a:t>BERT classification + network-based link</a:t>
                      </a:r>
                    </a:p>
                    <a:p>
                      <a:pPr algn="l">
                        <a:defRPr sz="1100" b="0">
                          <a:solidFill>
                            <a:srgbClr val="2C2C2C"/>
                          </a:solidFill>
                        </a:defRPr>
                      </a:pPr>
                      <a:r>
                        <a:rPr sz="1600"/>
                        <a:t>prediction with connection probability</a:t>
                      </a:r>
                    </a:p>
                  </a:txBody>
                  <a:tcPr>
                    <a:solidFill>
                      <a:srgbClr val="F0F0F5"/>
                    </a:solidFill>
                  </a:tcPr>
                </a:tc>
                <a:tc>
                  <a:txBody>
                    <a:bodyPr/>
                    <a:lstStyle/>
                    <a:p>
                      <a:pPr algn="l">
                        <a:defRPr sz="1100" b="0">
                          <a:solidFill>
                            <a:srgbClr val="2C2C2C"/>
                          </a:solidFill>
                        </a:defRPr>
                      </a:pPr>
                      <a:r>
                        <a:rPr sz="1600"/>
                        <a:t>Scope limited to live chat interactions;</a:t>
                      </a:r>
                    </a:p>
                    <a:p>
                      <a:pPr algn="l">
                        <a:defRPr sz="1100" b="0">
                          <a:solidFill>
                            <a:srgbClr val="2C2C2C"/>
                          </a:solidFill>
                        </a:defRPr>
                      </a:pPr>
                      <a:r>
                        <a:rPr sz="1600"/>
                        <a:t>limited generalizability to other platforms</a:t>
                      </a:r>
                    </a:p>
                  </a:txBody>
                  <a:tcPr>
                    <a:solidFill>
                      <a:srgbClr val="F0F0F5"/>
                    </a:solidFill>
                  </a:tcPr>
                </a:tc>
                <a:extLst>
                  <a:ext uri="{0D108BD9-81ED-4DB2-BD59-A6C34878D82A}">
                    <a16:rowId xmlns:a16="http://schemas.microsoft.com/office/drawing/2014/main" val="10004"/>
                  </a:ext>
                </a:extLst>
              </a:tr>
              <a:tr h="838200">
                <a:tc>
                  <a:txBody>
                    <a:bodyPr/>
                    <a:lstStyle/>
                    <a:p>
                      <a:pPr algn="l">
                        <a:defRPr sz="1100" b="0">
                          <a:solidFill>
                            <a:srgbClr val="2C2C2C"/>
                          </a:solidFill>
                        </a:defRPr>
                      </a:pPr>
                      <a:r>
                        <a:rPr sz="1600" dirty="0"/>
                        <a:t>Severity Detection of</a:t>
                      </a:r>
                      <a:r>
                        <a:rPr lang="en-US" sz="1600" dirty="0"/>
                        <a:t> </a:t>
                      </a:r>
                      <a:r>
                        <a:rPr sz="1600" dirty="0"/>
                        <a:t>Cyberbullying Using Machine Learning</a:t>
                      </a:r>
                    </a:p>
                  </a:txBody>
                  <a:tcPr>
                    <a:solidFill>
                      <a:srgbClr val="FFFFFF"/>
                    </a:solidFill>
                  </a:tcPr>
                </a:tc>
                <a:tc>
                  <a:txBody>
                    <a:bodyPr/>
                    <a:lstStyle/>
                    <a:p>
                      <a:pPr algn="ctr">
                        <a:defRPr sz="1100" b="0">
                          <a:solidFill>
                            <a:srgbClr val="2C2C2C"/>
                          </a:solidFill>
                        </a:defRPr>
                      </a:pPr>
                      <a:r>
                        <a:rPr sz="1600" dirty="0"/>
                        <a:t>2022</a:t>
                      </a:r>
                    </a:p>
                  </a:txBody>
                  <a:tcPr anchor="ctr">
                    <a:solidFill>
                      <a:srgbClr val="FFFFFF"/>
                    </a:solidFill>
                  </a:tcPr>
                </a:tc>
                <a:tc>
                  <a:txBody>
                    <a:bodyPr/>
                    <a:lstStyle/>
                    <a:p>
                      <a:pPr algn="l">
                        <a:defRPr sz="1100" b="0">
                          <a:solidFill>
                            <a:srgbClr val="2C2C2C"/>
                          </a:solidFill>
                        </a:defRPr>
                      </a:pPr>
                      <a:r>
                        <a:rPr sz="1600" dirty="0"/>
                        <a:t>BERT vectorization with 7 ML algorithms;</a:t>
                      </a:r>
                    </a:p>
                    <a:p>
                      <a:pPr algn="l">
                        <a:defRPr sz="1100" b="0">
                          <a:solidFill>
                            <a:srgbClr val="2C2C2C"/>
                          </a:solidFill>
                        </a:defRPr>
                      </a:pPr>
                      <a:r>
                        <a:rPr sz="1600" dirty="0"/>
                        <a:t>multiclass severity classification</a:t>
                      </a:r>
                    </a:p>
                  </a:txBody>
                  <a:tcPr>
                    <a:solidFill>
                      <a:srgbClr val="FFFFFF"/>
                    </a:solidFill>
                  </a:tcPr>
                </a:tc>
                <a:tc>
                  <a:txBody>
                    <a:bodyPr/>
                    <a:lstStyle/>
                    <a:p>
                      <a:pPr algn="l">
                        <a:defRPr sz="1100" b="0">
                          <a:solidFill>
                            <a:srgbClr val="2C2C2C"/>
                          </a:solidFill>
                        </a:defRPr>
                      </a:pPr>
                      <a:r>
                        <a:rPr sz="1600" dirty="0"/>
                        <a:t>No deep learning architecture;</a:t>
                      </a:r>
                    </a:p>
                    <a:p>
                      <a:pPr algn="l">
                        <a:defRPr sz="1100" b="0">
                          <a:solidFill>
                            <a:srgbClr val="2C2C2C"/>
                          </a:solidFill>
                        </a:defRPr>
                      </a:pPr>
                      <a:r>
                        <a:rPr sz="1600" dirty="0"/>
                        <a:t>no multimodal capability</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8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800"/>
            <a:ext cx="12191695" cy="7112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wrap="square" lIns="508000" rtlCol="0" anchor="ctr"/>
          <a:lstStyle/>
          <a:p>
            <a:pPr algn="l">
              <a:defRPr sz="3000" b="1">
                <a:solidFill>
                  <a:srgbClr val="FFFFFF"/>
                </a:solidFill>
              </a:defRPr>
            </a:pPr>
            <a:r>
              <a:t>DATASET DESCRIPTION</a:t>
            </a:r>
          </a:p>
        </p:txBody>
      </p:sp>
      <p:sp>
        <p:nvSpPr>
          <p:cNvPr id="4" name="TextBox 3"/>
          <p:cNvSpPr txBox="1"/>
          <p:nvPr/>
        </p:nvSpPr>
        <p:spPr>
          <a:xfrm>
            <a:off x="11277295" y="6502400"/>
            <a:ext cx="731520" cy="279400"/>
          </a:xfrm>
          <a:prstGeom prst="rect">
            <a:avLst/>
          </a:prstGeom>
          <a:noFill/>
        </p:spPr>
        <p:txBody>
          <a:bodyPr wrap="none">
            <a:spAutoFit/>
          </a:bodyPr>
          <a:lstStyle/>
          <a:p>
            <a:pPr algn="r">
              <a:defRPr sz="1000">
                <a:solidFill>
                  <a:srgbClr val="888888"/>
                </a:solidFill>
              </a:defRPr>
            </a:pPr>
            <a:r>
              <a:t>5</a:t>
            </a:r>
          </a:p>
        </p:txBody>
      </p:sp>
      <p:graphicFrame>
        <p:nvGraphicFramePr>
          <p:cNvPr id="5" name="Table 4"/>
          <p:cNvGraphicFramePr>
            <a:graphicFrameLocks noGrp="1"/>
          </p:cNvGraphicFramePr>
          <p:nvPr>
            <p:extLst>
              <p:ext uri="{D42A27DB-BD31-4B8C-83A1-F6EECF244321}">
                <p14:modId xmlns:p14="http://schemas.microsoft.com/office/powerpoint/2010/main" val="2807522850"/>
              </p:ext>
            </p:extLst>
          </p:nvPr>
        </p:nvGraphicFramePr>
        <p:xfrm>
          <a:off x="365760" y="1188720"/>
          <a:ext cx="11430000" cy="22860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2834640">
                  <a:extLst>
                    <a:ext uri="{9D8B030D-6E8A-4147-A177-3AD203B41FA5}">
                      <a16:colId xmlns:a16="http://schemas.microsoft.com/office/drawing/2014/main" val="20004"/>
                    </a:ext>
                  </a:extLst>
                </a:gridCol>
              </a:tblGrid>
              <a:tr h="571500">
                <a:tc>
                  <a:txBody>
                    <a:bodyPr/>
                    <a:lstStyle/>
                    <a:p>
                      <a:pPr algn="l">
                        <a:defRPr sz="1200" b="1">
                          <a:solidFill>
                            <a:srgbClr val="FFFFFF"/>
                          </a:solidFill>
                        </a:defRPr>
                      </a:pPr>
                      <a:r>
                        <a:rPr dirty="0"/>
                        <a:t>Dataset</a:t>
                      </a:r>
                    </a:p>
                  </a:txBody>
                  <a:tcPr>
                    <a:solidFill>
                      <a:srgbClr val="16213E"/>
                    </a:solidFill>
                  </a:tcPr>
                </a:tc>
                <a:tc>
                  <a:txBody>
                    <a:bodyPr/>
                    <a:lstStyle/>
                    <a:p>
                      <a:pPr algn="l">
                        <a:defRPr sz="1200" b="1">
                          <a:solidFill>
                            <a:srgbClr val="FFFFFF"/>
                          </a:solidFill>
                        </a:defRPr>
                      </a:pPr>
                      <a:r>
                        <a:t>Source</a:t>
                      </a:r>
                    </a:p>
                  </a:txBody>
                  <a:tcPr>
                    <a:solidFill>
                      <a:srgbClr val="16213E"/>
                    </a:solidFill>
                  </a:tcPr>
                </a:tc>
                <a:tc>
                  <a:txBody>
                    <a:bodyPr/>
                    <a:lstStyle/>
                    <a:p>
                      <a:pPr algn="l">
                        <a:defRPr sz="1200" b="1">
                          <a:solidFill>
                            <a:srgbClr val="FFFFFF"/>
                          </a:solidFill>
                        </a:defRPr>
                      </a:pPr>
                      <a:r>
                        <a:t>Modality</a:t>
                      </a:r>
                    </a:p>
                  </a:txBody>
                  <a:tcPr>
                    <a:solidFill>
                      <a:srgbClr val="16213E"/>
                    </a:solidFill>
                  </a:tcPr>
                </a:tc>
                <a:tc>
                  <a:txBody>
                    <a:bodyPr/>
                    <a:lstStyle/>
                    <a:p>
                      <a:pPr algn="l">
                        <a:defRPr sz="1200" b="1">
                          <a:solidFill>
                            <a:srgbClr val="FFFFFF"/>
                          </a:solidFill>
                        </a:defRPr>
                      </a:pPr>
                      <a:r>
                        <a:t>Samples</a:t>
                      </a:r>
                    </a:p>
                  </a:txBody>
                  <a:tcPr>
                    <a:solidFill>
                      <a:srgbClr val="16213E"/>
                    </a:solidFill>
                  </a:tcPr>
                </a:tc>
                <a:tc>
                  <a:txBody>
                    <a:bodyPr/>
                    <a:lstStyle/>
                    <a:p>
                      <a:pPr algn="l">
                        <a:defRPr sz="1200" b="1">
                          <a:solidFill>
                            <a:srgbClr val="FFFFFF"/>
                          </a:solidFill>
                        </a:defRPr>
                      </a:pPr>
                      <a:r>
                        <a:rPr dirty="0"/>
                        <a:t>Label Column</a:t>
                      </a:r>
                    </a:p>
                  </a:txBody>
                  <a:tcPr>
                    <a:solidFill>
                      <a:srgbClr val="16213E"/>
                    </a:solidFill>
                  </a:tcPr>
                </a:tc>
                <a:extLst>
                  <a:ext uri="{0D108BD9-81ED-4DB2-BD59-A6C34878D82A}">
                    <a16:rowId xmlns:a16="http://schemas.microsoft.com/office/drawing/2014/main" val="10000"/>
                  </a:ext>
                </a:extLst>
              </a:tr>
              <a:tr h="571500">
                <a:tc>
                  <a:txBody>
                    <a:bodyPr/>
                    <a:lstStyle/>
                    <a:p>
                      <a:pPr algn="l">
                        <a:defRPr sz="1100" b="0">
                          <a:solidFill>
                            <a:srgbClr val="2C2C2C"/>
                          </a:solidFill>
                        </a:defRPr>
                      </a:pPr>
                      <a:r>
                        <a:t>cyberbullying-tweets</a:t>
                      </a:r>
                    </a:p>
                  </a:txBody>
                  <a:tcPr>
                    <a:solidFill>
                      <a:srgbClr val="FFFFFF"/>
                    </a:solidFill>
                  </a:tcPr>
                </a:tc>
                <a:tc>
                  <a:txBody>
                    <a:bodyPr/>
                    <a:lstStyle/>
                    <a:p>
                      <a:pPr algn="l">
                        <a:defRPr sz="1100" b="0">
                          <a:solidFill>
                            <a:srgbClr val="2C2C2C"/>
                          </a:solidFill>
                        </a:defRPr>
                      </a:pPr>
                      <a:r>
                        <a:t>soorajtomar (Kaggle)</a:t>
                      </a:r>
                    </a:p>
                  </a:txBody>
                  <a:tcPr>
                    <a:solidFill>
                      <a:srgbClr val="FFFFFF"/>
                    </a:solidFill>
                  </a:tcPr>
                </a:tc>
                <a:tc>
                  <a:txBody>
                    <a:bodyPr/>
                    <a:lstStyle/>
                    <a:p>
                      <a:pPr algn="l">
                        <a:defRPr sz="1100" b="0">
                          <a:solidFill>
                            <a:srgbClr val="2C2C2C"/>
                          </a:solidFill>
                        </a:defRPr>
                      </a:pPr>
                      <a:r>
                        <a:t>Text-only</a:t>
                      </a:r>
                    </a:p>
                  </a:txBody>
                  <a:tcPr>
                    <a:solidFill>
                      <a:srgbClr val="FFFFFF"/>
                    </a:solidFill>
                  </a:tcPr>
                </a:tc>
                <a:tc>
                  <a:txBody>
                    <a:bodyPr/>
                    <a:lstStyle/>
                    <a:p>
                      <a:pPr algn="l">
                        <a:defRPr sz="1100" b="0">
                          <a:solidFill>
                            <a:srgbClr val="2C2C2C"/>
                          </a:solidFill>
                        </a:defRPr>
                      </a:pPr>
                      <a:r>
                        <a:t>11,100</a:t>
                      </a:r>
                    </a:p>
                  </a:txBody>
                  <a:tcPr>
                    <a:solidFill>
                      <a:srgbClr val="FFFFFF"/>
                    </a:solidFill>
                  </a:tcPr>
                </a:tc>
                <a:tc>
                  <a:txBody>
                    <a:bodyPr/>
                    <a:lstStyle/>
                    <a:p>
                      <a:pPr algn="l">
                        <a:defRPr sz="1100" b="0">
                          <a:solidFill>
                            <a:srgbClr val="2C2C2C"/>
                          </a:solidFill>
                        </a:defRPr>
                      </a:pPr>
                      <a:r>
                        <a:t>CB_Label (0 / 1)</a:t>
                      </a:r>
                    </a:p>
                  </a:txBody>
                  <a:tcPr>
                    <a:solidFill>
                      <a:srgbClr val="FFFFFF"/>
                    </a:solidFill>
                  </a:tcPr>
                </a:tc>
                <a:extLst>
                  <a:ext uri="{0D108BD9-81ED-4DB2-BD59-A6C34878D82A}">
                    <a16:rowId xmlns:a16="http://schemas.microsoft.com/office/drawing/2014/main" val="10001"/>
                  </a:ext>
                </a:extLst>
              </a:tr>
              <a:tr h="571500">
                <a:tc>
                  <a:txBody>
                    <a:bodyPr/>
                    <a:lstStyle/>
                    <a:p>
                      <a:pPr algn="l">
                        <a:defRPr sz="1100" b="0">
                          <a:solidFill>
                            <a:srgbClr val="2C2C2C"/>
                          </a:solidFill>
                        </a:defRPr>
                      </a:pPr>
                      <a:r>
                        <a:t>cyberbullying-dataset</a:t>
                      </a:r>
                    </a:p>
                  </a:txBody>
                  <a:tcPr>
                    <a:solidFill>
                      <a:srgbClr val="F0F0F5"/>
                    </a:solidFill>
                  </a:tcPr>
                </a:tc>
                <a:tc>
                  <a:txBody>
                    <a:bodyPr/>
                    <a:lstStyle/>
                    <a:p>
                      <a:pPr algn="l">
                        <a:defRPr sz="1100" b="0">
                          <a:solidFill>
                            <a:srgbClr val="2C2C2C"/>
                          </a:solidFill>
                        </a:defRPr>
                      </a:pPr>
                      <a:r>
                        <a:t>saurabhshahane (Kaggle)</a:t>
                      </a:r>
                    </a:p>
                  </a:txBody>
                  <a:tcPr>
                    <a:solidFill>
                      <a:srgbClr val="F0F0F5"/>
                    </a:solidFill>
                  </a:tcPr>
                </a:tc>
                <a:tc>
                  <a:txBody>
                    <a:bodyPr/>
                    <a:lstStyle/>
                    <a:p>
                      <a:pPr algn="l">
                        <a:defRPr sz="1100" b="0">
                          <a:solidFill>
                            <a:srgbClr val="2C2C2C"/>
                          </a:solidFill>
                        </a:defRPr>
                      </a:pPr>
                      <a:r>
                        <a:t>Text-only</a:t>
                      </a:r>
                    </a:p>
                  </a:txBody>
                  <a:tcPr>
                    <a:solidFill>
                      <a:srgbClr val="F0F0F5"/>
                    </a:solidFill>
                  </a:tcPr>
                </a:tc>
                <a:tc>
                  <a:txBody>
                    <a:bodyPr/>
                    <a:lstStyle/>
                    <a:p>
                      <a:pPr algn="l">
                        <a:defRPr sz="1100" b="0">
                          <a:solidFill>
                            <a:srgbClr val="2C2C2C"/>
                          </a:solidFill>
                        </a:defRPr>
                      </a:pPr>
                      <a:r>
                        <a:t>~449,000</a:t>
                      </a:r>
                    </a:p>
                  </a:txBody>
                  <a:tcPr>
                    <a:solidFill>
                      <a:srgbClr val="F0F0F5"/>
                    </a:solidFill>
                  </a:tcPr>
                </a:tc>
                <a:tc>
                  <a:txBody>
                    <a:bodyPr/>
                    <a:lstStyle/>
                    <a:p>
                      <a:pPr algn="l">
                        <a:defRPr sz="1100" b="0">
                          <a:solidFill>
                            <a:srgbClr val="2C2C2C"/>
                          </a:solidFill>
                        </a:defRPr>
                      </a:pPr>
                      <a:r>
                        <a:t>oh_label (0 / 1)</a:t>
                      </a:r>
                    </a:p>
                  </a:txBody>
                  <a:tcPr>
                    <a:solidFill>
                      <a:srgbClr val="F0F0F5"/>
                    </a:solidFill>
                  </a:tcPr>
                </a:tc>
                <a:extLst>
                  <a:ext uri="{0D108BD9-81ED-4DB2-BD59-A6C34878D82A}">
                    <a16:rowId xmlns:a16="http://schemas.microsoft.com/office/drawing/2014/main" val="10002"/>
                  </a:ext>
                </a:extLst>
              </a:tr>
              <a:tr h="571500">
                <a:tc>
                  <a:txBody>
                    <a:bodyPr/>
                    <a:lstStyle/>
                    <a:p>
                      <a:pPr algn="l">
                        <a:defRPr sz="1100" b="0">
                          <a:solidFill>
                            <a:srgbClr val="2C2C2C"/>
                          </a:solidFill>
                        </a:defRPr>
                      </a:pPr>
                      <a:r>
                        <a:t>multimodal-cyberbullying</a:t>
                      </a:r>
                    </a:p>
                  </a:txBody>
                  <a:tcPr>
                    <a:solidFill>
                      <a:srgbClr val="FFFFFF"/>
                    </a:solidFill>
                  </a:tcPr>
                </a:tc>
                <a:tc>
                  <a:txBody>
                    <a:bodyPr/>
                    <a:lstStyle/>
                    <a:p>
                      <a:pPr algn="l">
                        <a:defRPr sz="1100" b="0">
                          <a:solidFill>
                            <a:srgbClr val="2C2C2C"/>
                          </a:solidFill>
                        </a:defRPr>
                      </a:pPr>
                      <a:r>
                        <a:t>studentramya (Kaggle)</a:t>
                      </a:r>
                    </a:p>
                  </a:txBody>
                  <a:tcPr>
                    <a:solidFill>
                      <a:srgbClr val="FFFFFF"/>
                    </a:solidFill>
                  </a:tcPr>
                </a:tc>
                <a:tc>
                  <a:txBody>
                    <a:bodyPr/>
                    <a:lstStyle/>
                    <a:p>
                      <a:pPr algn="l">
                        <a:defRPr sz="1100" b="0">
                          <a:solidFill>
                            <a:srgbClr val="2C2C2C"/>
                          </a:solidFill>
                        </a:defRPr>
                      </a:pPr>
                      <a:r>
                        <a:t>Text + Images</a:t>
                      </a:r>
                    </a:p>
                  </a:txBody>
                  <a:tcPr>
                    <a:solidFill>
                      <a:srgbClr val="FFFFFF"/>
                    </a:solidFill>
                  </a:tcPr>
                </a:tc>
                <a:tc>
                  <a:txBody>
                    <a:bodyPr/>
                    <a:lstStyle/>
                    <a:p>
                      <a:pPr algn="l">
                        <a:defRPr sz="1100" b="0">
                          <a:solidFill>
                            <a:srgbClr val="2C2C2C"/>
                          </a:solidFill>
                        </a:defRPr>
                      </a:pPr>
                      <a:r>
                        <a:t>5,793</a:t>
                      </a:r>
                    </a:p>
                  </a:txBody>
                  <a:tcPr>
                    <a:solidFill>
                      <a:srgbClr val="FFFFFF"/>
                    </a:solidFill>
                  </a:tcPr>
                </a:tc>
                <a:tc>
                  <a:txBody>
                    <a:bodyPr/>
                    <a:lstStyle/>
                    <a:p>
                      <a:pPr algn="l">
                        <a:defRPr sz="1100" b="0">
                          <a:solidFill>
                            <a:srgbClr val="2C2C2C"/>
                          </a:solidFill>
                        </a:defRPr>
                      </a:pPr>
                      <a:r>
                        <a:rPr dirty="0" err="1"/>
                        <a:t>Img</a:t>
                      </a:r>
                      <a:r>
                        <a:rPr dirty="0"/>
                        <a:t>-Label (bully / not)</a:t>
                      </a:r>
                    </a:p>
                  </a:txBody>
                  <a:tcPr>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548640" y="3840480"/>
            <a:ext cx="10972800" cy="2239074"/>
          </a:xfrm>
          <a:prstGeom prst="rect">
            <a:avLst/>
          </a:prstGeom>
          <a:noFill/>
        </p:spPr>
        <p:txBody>
          <a:bodyPr wrap="square">
            <a:spAutoFit/>
          </a:bodyPr>
          <a:lstStyle/>
          <a:p>
            <a:pPr>
              <a:spcAft>
                <a:spcPts val="1100"/>
              </a:spcAft>
              <a:defRPr sz="1600" b="0">
                <a:solidFill>
                  <a:srgbClr val="2C2C2C"/>
                </a:solidFill>
              </a:defRPr>
            </a:pPr>
            <a:r>
              <a:rPr lang="en-US" dirty="0"/>
              <a:t>•  All three datasets are merged into one unified dataset containing 465,767 total samples.</a:t>
            </a:r>
          </a:p>
          <a:p>
            <a:pPr>
              <a:spcAft>
                <a:spcPts val="1100"/>
              </a:spcAft>
              <a:defRPr sz="1600" b="0">
                <a:solidFill>
                  <a:srgbClr val="2C2C2C"/>
                </a:solidFill>
              </a:defRPr>
            </a:pPr>
            <a:r>
              <a:rPr lang="en-US" dirty="0"/>
              <a:t>•  We split this data into 90% for training (419,190 samples) and 10% for testing (46,577 samples) using stratified sampling, which keeps the ratio of bully/non-bully posts equal in both sets.</a:t>
            </a:r>
          </a:p>
          <a:p>
            <a:pPr>
              <a:spcAft>
                <a:spcPts val="1100"/>
              </a:spcAft>
              <a:defRPr sz="1600" b="0">
                <a:solidFill>
                  <a:srgbClr val="2C2C2C"/>
                </a:solidFill>
              </a:defRPr>
            </a:pPr>
            <a:r>
              <a:rPr lang="en-US" dirty="0"/>
              <a:t>•  For posts that only have text (no image), we use a blank placeholder image. For posts with only an image (no text), we use an empty string.</a:t>
            </a:r>
          </a:p>
          <a:p>
            <a:pPr>
              <a:spcAft>
                <a:spcPts val="1100"/>
              </a:spcAft>
              <a:defRPr sz="1600" b="0">
                <a:solidFill>
                  <a:srgbClr val="2C2C2C"/>
                </a:solidFill>
              </a:defRPr>
            </a:pPr>
            <a:r>
              <a:rPr lang="en-US" dirty="0"/>
              <a:t>•  For image posts, EasyOCR reads any text written inside the image and adds it to the text input — this helps catch memes and screenshots with offensive captions.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8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800"/>
            <a:ext cx="12191695" cy="7112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wrap="square" lIns="508000" rtlCol="0" anchor="ctr"/>
          <a:lstStyle/>
          <a:p>
            <a:pPr algn="l">
              <a:defRPr sz="3000" b="1">
                <a:solidFill>
                  <a:srgbClr val="FFFFFF"/>
                </a:solidFill>
              </a:defRPr>
            </a:pPr>
            <a:r>
              <a:t>DATA PREPROCESSING</a:t>
            </a:r>
          </a:p>
        </p:txBody>
      </p:sp>
      <p:sp>
        <p:nvSpPr>
          <p:cNvPr id="4" name="TextBox 3"/>
          <p:cNvSpPr txBox="1"/>
          <p:nvPr/>
        </p:nvSpPr>
        <p:spPr>
          <a:xfrm>
            <a:off x="11277295" y="6502400"/>
            <a:ext cx="731520" cy="279400"/>
          </a:xfrm>
          <a:prstGeom prst="rect">
            <a:avLst/>
          </a:prstGeom>
          <a:noFill/>
        </p:spPr>
        <p:txBody>
          <a:bodyPr wrap="none">
            <a:spAutoFit/>
          </a:bodyPr>
          <a:lstStyle/>
          <a:p>
            <a:pPr algn="r">
              <a:defRPr sz="1000">
                <a:solidFill>
                  <a:srgbClr val="888888"/>
                </a:solidFill>
              </a:defRPr>
            </a:pPr>
            <a:r>
              <a:t>6</a:t>
            </a:r>
          </a:p>
        </p:txBody>
      </p:sp>
      <p:sp>
        <p:nvSpPr>
          <p:cNvPr id="5" name="TextBox 4"/>
          <p:cNvSpPr txBox="1"/>
          <p:nvPr/>
        </p:nvSpPr>
        <p:spPr>
          <a:xfrm>
            <a:off x="457200" y="1051560"/>
            <a:ext cx="5303520" cy="430887"/>
          </a:xfrm>
          <a:prstGeom prst="rect">
            <a:avLst/>
          </a:prstGeom>
          <a:noFill/>
        </p:spPr>
        <p:txBody>
          <a:bodyPr wrap="square">
            <a:spAutoFit/>
          </a:bodyPr>
          <a:lstStyle/>
          <a:p>
            <a:pPr algn="l">
              <a:spcAft>
                <a:spcPts val="800"/>
              </a:spcAft>
              <a:defRPr sz="2200" b="1">
                <a:solidFill>
                  <a:srgbClr val="2E4057"/>
                </a:solidFill>
              </a:defRPr>
            </a:pPr>
            <a:r>
              <a:rPr dirty="0">
                <a:solidFill>
                  <a:srgbClr val="16213E"/>
                </a:solidFill>
              </a:rPr>
              <a:t>Textual Pipeline</a:t>
            </a:r>
          </a:p>
        </p:txBody>
      </p:sp>
      <p:sp>
        <p:nvSpPr>
          <p:cNvPr id="6" name="TextBox 5"/>
          <p:cNvSpPr txBox="1"/>
          <p:nvPr/>
        </p:nvSpPr>
        <p:spPr>
          <a:xfrm>
            <a:off x="457200" y="1554480"/>
            <a:ext cx="5303520" cy="4114800"/>
          </a:xfrm>
          <a:prstGeom prst="rect">
            <a:avLst/>
          </a:prstGeom>
          <a:noFill/>
        </p:spPr>
        <p:txBody>
          <a:bodyPr wrap="square">
            <a:spAutoFit/>
          </a:bodyPr>
          <a:lstStyle/>
          <a:p>
            <a:pPr>
              <a:spcAft>
                <a:spcPts val="1100"/>
              </a:spcAft>
              <a:defRPr sz="1600" b="0">
                <a:solidFill>
                  <a:srgbClr val="2C2C2C"/>
                </a:solidFill>
              </a:defRPr>
            </a:pPr>
            <a:r>
              <a:rPr lang="en-US" dirty="0"/>
              <a:t>•  Remove HTML tags — strips out any web formatting code from the text using regex (regular expressions).</a:t>
            </a:r>
          </a:p>
          <a:p>
            <a:pPr>
              <a:spcAft>
                <a:spcPts val="1100"/>
              </a:spcAft>
              <a:defRPr sz="1600" b="0">
                <a:solidFill>
                  <a:srgbClr val="2C2C2C"/>
                </a:solidFill>
              </a:defRPr>
            </a:pPr>
            <a:r>
              <a:rPr lang="en-US" dirty="0"/>
              <a:t>•  Remove URLs — deletes all web links (http/https) since they add noise and no useful meaning.</a:t>
            </a:r>
          </a:p>
          <a:p>
            <a:pPr>
              <a:spcAft>
                <a:spcPts val="1100"/>
              </a:spcAft>
              <a:defRPr sz="1600" b="0">
                <a:solidFill>
                  <a:srgbClr val="2C2C2C"/>
                </a:solidFill>
              </a:defRPr>
            </a:pPr>
            <a:r>
              <a:rPr lang="en-US" dirty="0"/>
              <a:t>•  Clean @mentions and #hashtags — removes the symbols but keeps the actual words (e.g., @bully → bully).</a:t>
            </a:r>
          </a:p>
          <a:p>
            <a:pPr>
              <a:spcAft>
                <a:spcPts val="1100"/>
              </a:spcAft>
              <a:defRPr sz="1600" b="0">
                <a:solidFill>
                  <a:srgbClr val="2C2C2C"/>
                </a:solidFill>
              </a:defRPr>
            </a:pPr>
            <a:r>
              <a:rPr lang="en-US" dirty="0"/>
              <a:t>•  Normalize whitespace — replaces extra spaces, tabs, and line breaks with single spaces.</a:t>
            </a:r>
          </a:p>
          <a:p>
            <a:pPr>
              <a:spcAft>
                <a:spcPts val="1100"/>
              </a:spcAft>
              <a:defRPr sz="1600" b="0">
                <a:solidFill>
                  <a:srgbClr val="2C2C2C"/>
                </a:solidFill>
              </a:defRPr>
            </a:pPr>
            <a:r>
              <a:rPr lang="en-US" dirty="0"/>
              <a:t>•  Tokenization — the cleaned text is split into sub-word tokens using the </a:t>
            </a:r>
            <a:r>
              <a:rPr lang="en-US" dirty="0" err="1"/>
              <a:t>DistilBERT</a:t>
            </a:r>
            <a:r>
              <a:rPr lang="en-US" dirty="0"/>
              <a:t> Tokenizer, with a max length of 128 tokens per post.</a:t>
            </a:r>
          </a:p>
          <a:p>
            <a:pPr>
              <a:spcAft>
                <a:spcPts val="1100"/>
              </a:spcAft>
              <a:defRPr sz="1600" b="0">
                <a:solidFill>
                  <a:srgbClr val="2C2C2C"/>
                </a:solidFill>
              </a:defRPr>
            </a:pPr>
            <a:r>
              <a:rPr lang="en-US" dirty="0"/>
              <a:t>•  Padding &amp; Truncation — shorter texts are padded with zeros to reach 128 tokens; longer texts are cut to fit.</a:t>
            </a:r>
          </a:p>
        </p:txBody>
      </p:sp>
      <p:sp>
        <p:nvSpPr>
          <p:cNvPr id="7" name="Rectangle 6"/>
          <p:cNvSpPr/>
          <p:nvPr/>
        </p:nvSpPr>
        <p:spPr>
          <a:xfrm>
            <a:off x="5943600" y="1097280"/>
            <a:ext cx="25400" cy="45720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051560"/>
            <a:ext cx="5303520" cy="430887"/>
          </a:xfrm>
          <a:prstGeom prst="rect">
            <a:avLst/>
          </a:prstGeom>
          <a:noFill/>
        </p:spPr>
        <p:txBody>
          <a:bodyPr wrap="square">
            <a:spAutoFit/>
          </a:bodyPr>
          <a:lstStyle/>
          <a:p>
            <a:pPr algn="l">
              <a:spcAft>
                <a:spcPts val="800"/>
              </a:spcAft>
              <a:defRPr sz="2200" b="1">
                <a:solidFill>
                  <a:srgbClr val="2E4057"/>
                </a:solidFill>
              </a:defRPr>
            </a:pPr>
            <a:r>
              <a:rPr dirty="0">
                <a:solidFill>
                  <a:srgbClr val="16213E"/>
                </a:solidFill>
              </a:rPr>
              <a:t>Visual Pipeline</a:t>
            </a:r>
          </a:p>
        </p:txBody>
      </p:sp>
      <p:sp>
        <p:nvSpPr>
          <p:cNvPr id="9" name="TextBox 8"/>
          <p:cNvSpPr txBox="1"/>
          <p:nvPr/>
        </p:nvSpPr>
        <p:spPr>
          <a:xfrm>
            <a:off x="6400800" y="1554480"/>
            <a:ext cx="5303520" cy="4114800"/>
          </a:xfrm>
          <a:prstGeom prst="rect">
            <a:avLst/>
          </a:prstGeom>
          <a:noFill/>
        </p:spPr>
        <p:txBody>
          <a:bodyPr wrap="square">
            <a:spAutoFit/>
          </a:bodyPr>
          <a:lstStyle/>
          <a:p>
            <a:pPr>
              <a:spcAft>
                <a:spcPts val="1100"/>
              </a:spcAft>
              <a:defRPr sz="1600" b="0">
                <a:solidFill>
                  <a:srgbClr val="2C2C2C"/>
                </a:solidFill>
              </a:defRPr>
            </a:pPr>
            <a:r>
              <a:rPr lang="en-US" dirty="0"/>
              <a:t>•  Load &amp; Resize — each image is loaded in RGB color format and resized to a standard 224×224 pixels so the model gets uniform input.</a:t>
            </a:r>
          </a:p>
          <a:p>
            <a:pPr>
              <a:spcAft>
                <a:spcPts val="1100"/>
              </a:spcAft>
              <a:defRPr sz="1600" b="0">
                <a:solidFill>
                  <a:srgbClr val="2C2C2C"/>
                </a:solidFill>
              </a:defRPr>
            </a:pPr>
            <a:r>
              <a:rPr lang="en-US" dirty="0"/>
              <a:t>•  Convert to Tensor — pixel values are converted from image format to numerical tensors that </a:t>
            </a:r>
            <a:r>
              <a:rPr lang="en-US" dirty="0" err="1"/>
              <a:t>PyTorch</a:t>
            </a:r>
            <a:r>
              <a:rPr lang="en-US" dirty="0"/>
              <a:t> can process.</a:t>
            </a:r>
          </a:p>
          <a:p>
            <a:pPr>
              <a:spcAft>
                <a:spcPts val="1100"/>
              </a:spcAft>
              <a:defRPr sz="1600" b="0">
                <a:solidFill>
                  <a:srgbClr val="2C2C2C"/>
                </a:solidFill>
              </a:defRPr>
            </a:pPr>
            <a:r>
              <a:rPr lang="en-US" dirty="0"/>
              <a:t>•  Normalize — pixel values are scaled using ImageNet statistics so the pre-trained ResNet50 model works correctly:</a:t>
            </a:r>
          </a:p>
          <a:p>
            <a:pPr>
              <a:spcAft>
                <a:spcPts val="1100"/>
              </a:spcAft>
              <a:defRPr sz="1600" b="0">
                <a:solidFill>
                  <a:srgbClr val="2C2C2C"/>
                </a:solidFill>
              </a:defRPr>
            </a:pPr>
            <a:r>
              <a:rPr lang="en-US" dirty="0"/>
              <a:t>     Mean: [0.485, 0.456, 0.406]  |  Std: [0.229, 0.224, 0.225]</a:t>
            </a:r>
          </a:p>
          <a:p>
            <a:pPr>
              <a:spcAft>
                <a:spcPts val="1100"/>
              </a:spcAft>
              <a:defRPr sz="1600" b="0">
                <a:solidFill>
                  <a:srgbClr val="2C2C2C"/>
                </a:solidFill>
              </a:defRPr>
            </a:pPr>
            <a:r>
              <a:rPr lang="en-US" dirty="0"/>
              <a:t>•  OCR Text Extraction — EasyOCR scans the image for any embedded text (e.g., meme captions, screenshots).</a:t>
            </a:r>
          </a:p>
          <a:p>
            <a:pPr>
              <a:spcAft>
                <a:spcPts val="1100"/>
              </a:spcAft>
              <a:defRPr sz="1600" b="0">
                <a:solidFill>
                  <a:srgbClr val="2C2C2C"/>
                </a:solidFill>
              </a:defRPr>
            </a:pPr>
            <a:r>
              <a:rPr lang="en-US" dirty="0"/>
              <a:t>•  Text Merging — the extracted image-text is combined with the post's original text and sent to the </a:t>
            </a:r>
            <a:r>
              <a:rPr lang="en-US" dirty="0" err="1"/>
              <a:t>DistilBERT</a:t>
            </a:r>
            <a:r>
              <a:rPr lang="en-US" dirty="0"/>
              <a:t> text encoder together.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8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800"/>
            <a:ext cx="12191695" cy="7112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wrap="square" lIns="508000" rtlCol="0" anchor="ctr"/>
          <a:lstStyle/>
          <a:p>
            <a:pPr algn="l">
              <a:defRPr sz="3000" b="1">
                <a:solidFill>
                  <a:srgbClr val="FFFFFF"/>
                </a:solidFill>
              </a:defRPr>
            </a:pPr>
            <a:r>
              <a:t>MODEL ARCHITECTURE</a:t>
            </a:r>
          </a:p>
        </p:txBody>
      </p:sp>
      <p:sp>
        <p:nvSpPr>
          <p:cNvPr id="4" name="TextBox 3"/>
          <p:cNvSpPr txBox="1"/>
          <p:nvPr/>
        </p:nvSpPr>
        <p:spPr>
          <a:xfrm>
            <a:off x="11277295" y="6502400"/>
            <a:ext cx="731520" cy="279400"/>
          </a:xfrm>
          <a:prstGeom prst="rect">
            <a:avLst/>
          </a:prstGeom>
          <a:noFill/>
        </p:spPr>
        <p:txBody>
          <a:bodyPr wrap="none">
            <a:spAutoFit/>
          </a:bodyPr>
          <a:lstStyle/>
          <a:p>
            <a:pPr algn="r">
              <a:defRPr sz="1000">
                <a:solidFill>
                  <a:srgbClr val="888888"/>
                </a:solidFill>
              </a:defRPr>
            </a:pPr>
            <a:r>
              <a:t>7</a:t>
            </a:r>
          </a:p>
        </p:txBody>
      </p:sp>
      <p:pic>
        <p:nvPicPr>
          <p:cNvPr id="6" name="Picture 5" descr="architecture_diagram.png"/>
          <p:cNvPicPr>
            <a:picLocks noChangeAspect="1"/>
          </p:cNvPicPr>
          <p:nvPr/>
        </p:nvPicPr>
        <p:blipFill>
          <a:blip r:embed="rId3"/>
          <a:stretch>
            <a:fillRect/>
          </a:stretch>
        </p:blipFill>
        <p:spPr>
          <a:xfrm>
            <a:off x="5669280" y="1005840"/>
            <a:ext cx="6217920" cy="5496560"/>
          </a:xfrm>
          <a:prstGeom prst="rect">
            <a:avLst/>
          </a:prstGeom>
        </p:spPr>
      </p:pic>
      <p:sp>
        <p:nvSpPr>
          <p:cNvPr id="7" name="TextBox 6">
            <a:extLst>
              <a:ext uri="{FF2B5EF4-FFF2-40B4-BE49-F238E27FC236}">
                <a16:creationId xmlns:a16="http://schemas.microsoft.com/office/drawing/2014/main" id="{6B251D2D-591A-43D2-551D-99586EB3411D}"/>
              </a:ext>
            </a:extLst>
          </p:cNvPr>
          <p:cNvSpPr txBox="1"/>
          <p:nvPr/>
        </p:nvSpPr>
        <p:spPr>
          <a:xfrm>
            <a:off x="457200" y="1005840"/>
            <a:ext cx="5303520" cy="36576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200" b="1">
                <a:solidFill>
                  <a:srgbClr val="2E4057"/>
                </a:solidFill>
              </a:defRPr>
            </a:pPr>
            <a:r>
              <a:rPr kumimoji="0" sz="2200" b="1" i="0" u="none" strike="noStrike" kern="1200" cap="none" spc="0" normalizeH="0" baseline="0" noProof="0" dirty="0">
                <a:ln>
                  <a:noFill/>
                </a:ln>
                <a:solidFill>
                  <a:srgbClr val="2E4057"/>
                </a:solidFill>
                <a:effectLst/>
                <a:uLnTx/>
                <a:uFillTx/>
                <a:latin typeface="Calibri"/>
                <a:ea typeface="+mn-ea"/>
                <a:cs typeface="+mn-cs"/>
              </a:rPr>
              <a:t>How Our Model Works</a:t>
            </a:r>
          </a:p>
        </p:txBody>
      </p:sp>
      <p:sp>
        <p:nvSpPr>
          <p:cNvPr id="8" name="TextBox 7">
            <a:extLst>
              <a:ext uri="{FF2B5EF4-FFF2-40B4-BE49-F238E27FC236}">
                <a16:creationId xmlns:a16="http://schemas.microsoft.com/office/drawing/2014/main" id="{D765D765-79FF-F03C-4474-5F61ACE3C104}"/>
              </a:ext>
            </a:extLst>
          </p:cNvPr>
          <p:cNvSpPr txBox="1"/>
          <p:nvPr/>
        </p:nvSpPr>
        <p:spPr>
          <a:xfrm>
            <a:off x="457200" y="1554480"/>
            <a:ext cx="5303520" cy="45720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2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Text Branch (</a:t>
            </a:r>
            <a:r>
              <a:rPr kumimoji="0" sz="1500" b="0" i="0" u="none" strike="noStrike" kern="1200" cap="none" spc="0" normalizeH="0" baseline="0" noProof="0" dirty="0" err="1">
                <a:ln>
                  <a:noFill/>
                </a:ln>
                <a:solidFill>
                  <a:srgbClr val="2C2C2C"/>
                </a:solidFill>
                <a:effectLst/>
                <a:uLnTx/>
                <a:uFillTx/>
                <a:latin typeface="Calibri"/>
                <a:ea typeface="+mn-ea"/>
                <a:cs typeface="+mn-cs"/>
              </a:rPr>
              <a:t>DistilBERT</a:t>
            </a:r>
            <a:r>
              <a:rPr kumimoji="0" sz="1500" b="0" i="0" u="none" strike="noStrike" kern="1200" cap="none" spc="0" normalizeH="0" baseline="0" noProof="0" dirty="0">
                <a:ln>
                  <a:noFill/>
                </a:ln>
                <a:solidFill>
                  <a:srgbClr val="2C2C2C"/>
                </a:solidFill>
                <a:effectLst/>
                <a:uLnTx/>
                <a:uFillTx/>
                <a:latin typeface="Calibri"/>
                <a:ea typeface="+mn-ea"/>
                <a:cs typeface="+mn-cs"/>
              </a:rPr>
              <a:t>) — Reads the social media post and converts each word into a 768-dimensional vector that captures its meaning in context.</a:t>
            </a:r>
          </a:p>
          <a:p>
            <a:pPr marL="0" marR="0" lvl="0" indent="0" algn="l" defTabSz="457200" rtl="0" eaLnBrk="1" fontAlgn="auto" latinLnBrk="0" hangingPunct="1">
              <a:lnSpc>
                <a:spcPct val="100000"/>
              </a:lnSpc>
              <a:spcBef>
                <a:spcPts val="0"/>
              </a:spcBef>
              <a:spcAft>
                <a:spcPts val="12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Image Branch (ResNet50) — Looks at the image and extracts visual features as a grid of 7×7 spatial maps, each with 2048 channels. A linear layer projects these down to 768 dimensions to match the text.</a:t>
            </a:r>
          </a:p>
          <a:p>
            <a:pPr marL="0" marR="0" lvl="0" indent="0" algn="l" defTabSz="457200" rtl="0" eaLnBrk="1" fontAlgn="auto" latinLnBrk="0" hangingPunct="1">
              <a:lnSpc>
                <a:spcPct val="100000"/>
              </a:lnSpc>
              <a:spcBef>
                <a:spcPts val="0"/>
              </a:spcBef>
              <a:spcAft>
                <a:spcPts val="12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Cross-Attention Fusion — The image features ask questions (queries) and the text features provide answers (keys &amp; values). This lets the model learn which words relate to which parts of the image. Uses 8 attention heads.</a:t>
            </a:r>
          </a:p>
          <a:p>
            <a:pPr marL="0" marR="0" lvl="0" indent="0" algn="l" defTabSz="457200" rtl="0" eaLnBrk="1" fontAlgn="auto" latinLnBrk="0" hangingPunct="1">
              <a:lnSpc>
                <a:spcPct val="100000"/>
              </a:lnSpc>
              <a:spcBef>
                <a:spcPts val="0"/>
              </a:spcBef>
              <a:spcAft>
                <a:spcPts val="12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Classifier Head — The fused features are averaged (mean pooling) and passed through two fully-connected layers: 768 → 256 → 1, with </a:t>
            </a:r>
            <a:r>
              <a:rPr kumimoji="0" sz="1500" b="0" i="0" u="none" strike="noStrike" kern="1200" cap="none" spc="0" normalizeH="0" baseline="0" noProof="0" dirty="0" err="1">
                <a:ln>
                  <a:noFill/>
                </a:ln>
                <a:solidFill>
                  <a:srgbClr val="2C2C2C"/>
                </a:solidFill>
                <a:effectLst/>
                <a:uLnTx/>
                <a:uFillTx/>
                <a:latin typeface="Calibri"/>
                <a:ea typeface="+mn-ea"/>
                <a:cs typeface="+mn-cs"/>
              </a:rPr>
              <a:t>ReLU</a:t>
            </a:r>
            <a:r>
              <a:rPr kumimoji="0" sz="1500" b="0" i="0" u="none" strike="noStrike" kern="1200" cap="none" spc="0" normalizeH="0" baseline="0" noProof="0" dirty="0">
                <a:ln>
                  <a:noFill/>
                </a:ln>
                <a:solidFill>
                  <a:srgbClr val="2C2C2C"/>
                </a:solidFill>
                <a:effectLst/>
                <a:uLnTx/>
                <a:uFillTx/>
                <a:latin typeface="Calibri"/>
                <a:ea typeface="+mn-ea"/>
                <a:cs typeface="+mn-cs"/>
              </a:rPr>
              <a:t> activation and 10% dropout in between.</a:t>
            </a:r>
          </a:p>
          <a:p>
            <a:pPr marL="0" marR="0" lvl="0" indent="0" algn="l" defTabSz="457200" rtl="0" eaLnBrk="1" fontAlgn="auto" latinLnBrk="0" hangingPunct="1">
              <a:lnSpc>
                <a:spcPct val="100000"/>
              </a:lnSpc>
              <a:spcBef>
                <a:spcPts val="0"/>
              </a:spcBef>
              <a:spcAft>
                <a:spcPts val="12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Output — A single number (logit) is produced. If it is above 0.5 after sigmoid, the post is classified as Bullying; otherwise, Non-Bullying.</a:t>
            </a:r>
          </a:p>
          <a:p>
            <a:pPr marL="0" marR="0" lvl="0" indent="0" algn="l" defTabSz="457200" rtl="0" eaLnBrk="1" fontAlgn="auto" latinLnBrk="0" hangingPunct="1">
              <a:lnSpc>
                <a:spcPct val="100000"/>
              </a:lnSpc>
              <a:spcBef>
                <a:spcPts val="0"/>
              </a:spcBef>
              <a:spcAft>
                <a:spcPts val="12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Loss Function — </a:t>
            </a:r>
            <a:r>
              <a:rPr kumimoji="0" sz="1500" b="0" i="0" u="none" strike="noStrike" kern="1200" cap="none" spc="0" normalizeH="0" baseline="0" noProof="0" dirty="0" err="1">
                <a:ln>
                  <a:noFill/>
                </a:ln>
                <a:solidFill>
                  <a:srgbClr val="2C2C2C"/>
                </a:solidFill>
                <a:effectLst/>
                <a:uLnTx/>
                <a:uFillTx/>
                <a:latin typeface="Calibri"/>
                <a:ea typeface="+mn-ea"/>
                <a:cs typeface="+mn-cs"/>
              </a:rPr>
              <a:t>BCEWithLogitsLoss</a:t>
            </a:r>
            <a:r>
              <a:rPr kumimoji="0" sz="1500" b="0" i="0" u="none" strike="noStrike" kern="1200" cap="none" spc="0" normalizeH="0" baseline="0" noProof="0" dirty="0">
                <a:ln>
                  <a:noFill/>
                </a:ln>
                <a:solidFill>
                  <a:srgbClr val="2C2C2C"/>
                </a:solidFill>
                <a:effectLst/>
                <a:uLnTx/>
                <a:uFillTx/>
                <a:latin typeface="Calibri"/>
                <a:ea typeface="+mn-ea"/>
                <a:cs typeface="+mn-cs"/>
              </a:rPr>
              <a:t> (Binary Cross-Entropy with built-in sigmoid) is used for stable training.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8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800"/>
            <a:ext cx="12191695" cy="7112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wrap="square" lIns="508000" rtlCol="0" anchor="ctr"/>
          <a:lstStyle/>
          <a:p>
            <a:pPr algn="l">
              <a:defRPr sz="3000" b="1">
                <a:solidFill>
                  <a:srgbClr val="FFFFFF"/>
                </a:solidFill>
              </a:defRPr>
            </a:pPr>
            <a:r>
              <a:t>IMPLEMENTATION OVERVIEW</a:t>
            </a:r>
          </a:p>
        </p:txBody>
      </p:sp>
      <p:sp>
        <p:nvSpPr>
          <p:cNvPr id="4" name="TextBox 3"/>
          <p:cNvSpPr txBox="1"/>
          <p:nvPr/>
        </p:nvSpPr>
        <p:spPr>
          <a:xfrm>
            <a:off x="11277295" y="6502400"/>
            <a:ext cx="731520" cy="279400"/>
          </a:xfrm>
          <a:prstGeom prst="rect">
            <a:avLst/>
          </a:prstGeom>
          <a:noFill/>
        </p:spPr>
        <p:txBody>
          <a:bodyPr wrap="none">
            <a:spAutoFit/>
          </a:bodyPr>
          <a:lstStyle/>
          <a:p>
            <a:pPr algn="r">
              <a:defRPr sz="1000">
                <a:solidFill>
                  <a:srgbClr val="888888"/>
                </a:solidFill>
              </a:defRPr>
            </a:pPr>
            <a:r>
              <a:t>8</a:t>
            </a:r>
          </a:p>
        </p:txBody>
      </p:sp>
      <p:pic>
        <p:nvPicPr>
          <p:cNvPr id="7" name="Picture 6" descr="flowchart.png"/>
          <p:cNvPicPr>
            <a:picLocks noChangeAspect="1"/>
          </p:cNvPicPr>
          <p:nvPr/>
        </p:nvPicPr>
        <p:blipFill>
          <a:blip r:embed="rId2"/>
          <a:stretch>
            <a:fillRect/>
          </a:stretch>
        </p:blipFill>
        <p:spPr>
          <a:xfrm>
            <a:off x="5669280" y="1005840"/>
            <a:ext cx="6217920" cy="5303520"/>
          </a:xfrm>
          <a:prstGeom prst="rect">
            <a:avLst/>
          </a:prstGeom>
        </p:spPr>
      </p:pic>
      <p:sp>
        <p:nvSpPr>
          <p:cNvPr id="8" name="TextBox 7">
            <a:extLst>
              <a:ext uri="{FF2B5EF4-FFF2-40B4-BE49-F238E27FC236}">
                <a16:creationId xmlns:a16="http://schemas.microsoft.com/office/drawing/2014/main" id="{00B032B3-5F70-11A4-5E91-9811EB00D598}"/>
              </a:ext>
            </a:extLst>
          </p:cNvPr>
          <p:cNvSpPr txBox="1"/>
          <p:nvPr/>
        </p:nvSpPr>
        <p:spPr>
          <a:xfrm>
            <a:off x="457200" y="1051560"/>
            <a:ext cx="5303520" cy="43088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200" b="1">
                <a:solidFill>
                  <a:srgbClr val="2E4057"/>
                </a:solidFill>
              </a:defRPr>
            </a:pPr>
            <a:r>
              <a:rPr kumimoji="0" sz="2200" b="1" i="0" u="none" strike="noStrike" kern="1200" cap="none" spc="0" normalizeH="0" baseline="0" noProof="0" dirty="0">
                <a:ln>
                  <a:noFill/>
                </a:ln>
                <a:solidFill>
                  <a:srgbClr val="16213E"/>
                </a:solidFill>
                <a:effectLst/>
                <a:uLnTx/>
                <a:uFillTx/>
                <a:latin typeface="Calibri"/>
                <a:ea typeface="+mn-ea"/>
                <a:cs typeface="+mn-cs"/>
              </a:rPr>
              <a:t>Tools &amp; Technologies Used</a:t>
            </a:r>
          </a:p>
        </p:txBody>
      </p:sp>
      <p:sp>
        <p:nvSpPr>
          <p:cNvPr id="9" name="TextBox 8">
            <a:extLst>
              <a:ext uri="{FF2B5EF4-FFF2-40B4-BE49-F238E27FC236}">
                <a16:creationId xmlns:a16="http://schemas.microsoft.com/office/drawing/2014/main" id="{660E2C51-836E-DEF9-4DA7-C3F01F86306A}"/>
              </a:ext>
            </a:extLst>
          </p:cNvPr>
          <p:cNvSpPr txBox="1"/>
          <p:nvPr/>
        </p:nvSpPr>
        <p:spPr>
          <a:xfrm>
            <a:off x="457200" y="1554480"/>
            <a:ext cx="5303520" cy="45720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100"/>
              </a:spcAft>
              <a:buClrTx/>
              <a:buSzTx/>
              <a:buFontTx/>
              <a:buNone/>
              <a:tabLst/>
              <a:defRPr sz="1500" b="0">
                <a:solidFill>
                  <a:srgbClr val="2C2C2C"/>
                </a:solidFill>
              </a:defRPr>
            </a:pPr>
            <a:r>
              <a:rPr kumimoji="0" sz="1500" b="0" i="0" u="none" strike="noStrike" kern="1200" cap="none" spc="0" normalizeH="0" baseline="0" noProof="0">
                <a:ln>
                  <a:noFill/>
                </a:ln>
                <a:solidFill>
                  <a:srgbClr val="2C2C2C"/>
                </a:solidFill>
                <a:effectLst/>
                <a:uLnTx/>
                <a:uFillTx/>
                <a:latin typeface="Calibri"/>
                <a:ea typeface="+mn-ea"/>
                <a:cs typeface="+mn-cs"/>
              </a:rPr>
              <a:t>•  Python 3.10+ — The entire project is written in Python, the most popular language for AI and machine learning.</a:t>
            </a:r>
          </a:p>
          <a:p>
            <a:pPr marL="0" marR="0" lvl="0" indent="0" algn="l" defTabSz="457200" rtl="0" eaLnBrk="1" fontAlgn="auto" latinLnBrk="0" hangingPunct="1">
              <a:lnSpc>
                <a:spcPct val="100000"/>
              </a:lnSpc>
              <a:spcBef>
                <a:spcPts val="0"/>
              </a:spcBef>
              <a:spcAft>
                <a:spcPts val="1100"/>
              </a:spcAft>
              <a:buClrTx/>
              <a:buSzTx/>
              <a:buFontTx/>
              <a:buNone/>
              <a:tabLst/>
              <a:defRPr sz="1500" b="0">
                <a:solidFill>
                  <a:srgbClr val="2C2C2C"/>
                </a:solidFill>
              </a:defRPr>
            </a:pPr>
            <a:r>
              <a:rPr kumimoji="0" sz="1500" b="0" i="0" u="none" strike="noStrike" kern="1200" cap="none" spc="0" normalizeH="0" baseline="0" noProof="0">
                <a:ln>
                  <a:noFill/>
                </a:ln>
                <a:solidFill>
                  <a:srgbClr val="2C2C2C"/>
                </a:solidFill>
                <a:effectLst/>
                <a:uLnTx/>
                <a:uFillTx/>
                <a:latin typeface="Calibri"/>
                <a:ea typeface="+mn-ea"/>
                <a:cs typeface="+mn-cs"/>
              </a:rPr>
              <a:t>•  PyTorch 2.x — Our deep learning framework. It builds the neural network, runs training on the GPU using CUDA, and handles Mixed Precision (AMP) for memory savings.</a:t>
            </a:r>
          </a:p>
          <a:p>
            <a:pPr marL="0" marR="0" lvl="0" indent="0" algn="l" defTabSz="457200" rtl="0" eaLnBrk="1" fontAlgn="auto" latinLnBrk="0" hangingPunct="1">
              <a:lnSpc>
                <a:spcPct val="100000"/>
              </a:lnSpc>
              <a:spcBef>
                <a:spcPts val="0"/>
              </a:spcBef>
              <a:spcAft>
                <a:spcPts val="1100"/>
              </a:spcAft>
              <a:buClrTx/>
              <a:buSzTx/>
              <a:buFontTx/>
              <a:buNone/>
              <a:tabLst/>
              <a:defRPr sz="1500" b="0">
                <a:solidFill>
                  <a:srgbClr val="2C2C2C"/>
                </a:solidFill>
              </a:defRPr>
            </a:pPr>
            <a:r>
              <a:rPr kumimoji="0" sz="1500" b="0" i="0" u="none" strike="noStrike" kern="1200" cap="none" spc="0" normalizeH="0" baseline="0" noProof="0">
                <a:ln>
                  <a:noFill/>
                </a:ln>
                <a:solidFill>
                  <a:srgbClr val="2C2C2C"/>
                </a:solidFill>
                <a:effectLst/>
                <a:uLnTx/>
                <a:uFillTx/>
                <a:latin typeface="Calibri"/>
                <a:ea typeface="+mn-ea"/>
                <a:cs typeface="+mn-cs"/>
              </a:rPr>
              <a:t>•  HuggingFace Transformers — Provides the pre-trained DistilBERT model and tokenizer for understanding text.</a:t>
            </a:r>
          </a:p>
          <a:p>
            <a:pPr marL="0" marR="0" lvl="0" indent="0" algn="l" defTabSz="457200" rtl="0" eaLnBrk="1" fontAlgn="auto" latinLnBrk="0" hangingPunct="1">
              <a:lnSpc>
                <a:spcPct val="100000"/>
              </a:lnSpc>
              <a:spcBef>
                <a:spcPts val="0"/>
              </a:spcBef>
              <a:spcAft>
                <a:spcPts val="1100"/>
              </a:spcAft>
              <a:buClrTx/>
              <a:buSzTx/>
              <a:buFontTx/>
              <a:buNone/>
              <a:tabLst/>
              <a:defRPr sz="1500" b="0">
                <a:solidFill>
                  <a:srgbClr val="2C2C2C"/>
                </a:solidFill>
              </a:defRPr>
            </a:pPr>
            <a:r>
              <a:rPr kumimoji="0" sz="1500" b="0" i="0" u="none" strike="noStrike" kern="1200" cap="none" spc="0" normalizeH="0" baseline="0" noProof="0">
                <a:ln>
                  <a:noFill/>
                </a:ln>
                <a:solidFill>
                  <a:srgbClr val="2C2C2C"/>
                </a:solidFill>
                <a:effectLst/>
                <a:uLnTx/>
                <a:uFillTx/>
                <a:latin typeface="Calibri"/>
                <a:ea typeface="+mn-ea"/>
                <a:cs typeface="+mn-cs"/>
              </a:rPr>
              <a:t>•  TorchVision — Supplies the pre-trained ResNet50 model and image transformation utilities (resize, normalize).</a:t>
            </a:r>
          </a:p>
          <a:p>
            <a:pPr marL="0" marR="0" lvl="0" indent="0" algn="l" defTabSz="457200" rtl="0" eaLnBrk="1" fontAlgn="auto" latinLnBrk="0" hangingPunct="1">
              <a:lnSpc>
                <a:spcPct val="100000"/>
              </a:lnSpc>
              <a:spcBef>
                <a:spcPts val="0"/>
              </a:spcBef>
              <a:spcAft>
                <a:spcPts val="1100"/>
              </a:spcAft>
              <a:buClrTx/>
              <a:buSzTx/>
              <a:buFontTx/>
              <a:buNone/>
              <a:tabLst/>
              <a:defRPr sz="1500" b="0">
                <a:solidFill>
                  <a:srgbClr val="2C2C2C"/>
                </a:solidFill>
              </a:defRPr>
            </a:pPr>
            <a:r>
              <a:rPr kumimoji="0" sz="1500" b="0" i="0" u="none" strike="noStrike" kern="1200" cap="none" spc="0" normalizeH="0" baseline="0" noProof="0">
                <a:ln>
                  <a:noFill/>
                </a:ln>
                <a:solidFill>
                  <a:srgbClr val="2C2C2C"/>
                </a:solidFill>
                <a:effectLst/>
                <a:uLnTx/>
                <a:uFillTx/>
                <a:latin typeface="Calibri"/>
                <a:ea typeface="+mn-ea"/>
                <a:cs typeface="+mn-cs"/>
              </a:rPr>
              <a:t>•  EasyOCR — A GPU-accelerated OCR engine that reads text embedded inside images like memes and screenshots.</a:t>
            </a:r>
          </a:p>
          <a:p>
            <a:pPr marL="0" marR="0" lvl="0" indent="0" algn="l" defTabSz="457200" rtl="0" eaLnBrk="1" fontAlgn="auto" latinLnBrk="0" hangingPunct="1">
              <a:lnSpc>
                <a:spcPct val="100000"/>
              </a:lnSpc>
              <a:spcBef>
                <a:spcPts val="0"/>
              </a:spcBef>
              <a:spcAft>
                <a:spcPts val="1100"/>
              </a:spcAft>
              <a:buClrTx/>
              <a:buSzTx/>
              <a:buFontTx/>
              <a:buNone/>
              <a:tabLst/>
              <a:defRPr sz="1500" b="0">
                <a:solidFill>
                  <a:srgbClr val="2C2C2C"/>
                </a:solidFill>
              </a:defRPr>
            </a:pPr>
            <a:r>
              <a:rPr kumimoji="0" sz="1500" b="0" i="0" u="none" strike="noStrike" kern="1200" cap="none" spc="0" normalizeH="0" baseline="0" noProof="0">
                <a:ln>
                  <a:noFill/>
                </a:ln>
                <a:solidFill>
                  <a:srgbClr val="2C2C2C"/>
                </a:solidFill>
                <a:effectLst/>
                <a:uLnTx/>
                <a:uFillTx/>
                <a:latin typeface="Calibri"/>
                <a:ea typeface="+mn-ea"/>
                <a:cs typeface="+mn-cs"/>
              </a:rPr>
              <a:t>•  Scikit-learn, Pandas, NumPy — Used for dataset splitting, computing metrics (accuracy, F1), and data manipulation.</a:t>
            </a:r>
          </a:p>
          <a:p>
            <a:pPr marL="0" marR="0" lvl="0" indent="0" algn="l" defTabSz="457200" rtl="0" eaLnBrk="1" fontAlgn="auto" latinLnBrk="0" hangingPunct="1">
              <a:lnSpc>
                <a:spcPct val="100000"/>
              </a:lnSpc>
              <a:spcBef>
                <a:spcPts val="0"/>
              </a:spcBef>
              <a:spcAft>
                <a:spcPts val="1100"/>
              </a:spcAft>
              <a:buClrTx/>
              <a:buSzTx/>
              <a:buFontTx/>
              <a:buNone/>
              <a:tabLst/>
              <a:defRPr sz="1500" b="0">
                <a:solidFill>
                  <a:srgbClr val="2C2C2C"/>
                </a:solidFill>
              </a:defRPr>
            </a:pPr>
            <a:r>
              <a:rPr kumimoji="0" sz="1500" b="0" i="0" u="none" strike="noStrike" kern="1200" cap="none" spc="0" normalizeH="0" baseline="0" noProof="0">
                <a:ln>
                  <a:noFill/>
                </a:ln>
                <a:solidFill>
                  <a:srgbClr val="2C2C2C"/>
                </a:solidFill>
                <a:effectLst/>
                <a:uLnTx/>
                <a:uFillTx/>
                <a:latin typeface="Calibri"/>
                <a:ea typeface="+mn-ea"/>
                <a:cs typeface="+mn-cs"/>
              </a:rPr>
              <a:t>•  Matplotlib &amp; Seaborn — Generate charts for performance metrics, confusion matrix heatmaps, and ROC curves.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8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800"/>
            <a:ext cx="12191695" cy="7112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wrap="square" lIns="508000" rtlCol="0" anchor="ctr"/>
          <a:lstStyle/>
          <a:p>
            <a:pPr algn="l">
              <a:defRPr sz="3000" b="1">
                <a:solidFill>
                  <a:srgbClr val="FFFFFF"/>
                </a:solidFill>
              </a:defRPr>
            </a:pPr>
            <a:r>
              <a:t>PERFORMANCE EVALUATION</a:t>
            </a:r>
          </a:p>
        </p:txBody>
      </p:sp>
      <p:sp>
        <p:nvSpPr>
          <p:cNvPr id="4" name="TextBox 3"/>
          <p:cNvSpPr txBox="1"/>
          <p:nvPr/>
        </p:nvSpPr>
        <p:spPr>
          <a:xfrm>
            <a:off x="11277295" y="6502400"/>
            <a:ext cx="731520" cy="279400"/>
          </a:xfrm>
          <a:prstGeom prst="rect">
            <a:avLst/>
          </a:prstGeom>
          <a:noFill/>
        </p:spPr>
        <p:txBody>
          <a:bodyPr wrap="none">
            <a:spAutoFit/>
          </a:bodyPr>
          <a:lstStyle/>
          <a:p>
            <a:pPr algn="r">
              <a:defRPr sz="1000">
                <a:solidFill>
                  <a:srgbClr val="888888"/>
                </a:solidFill>
              </a:defRPr>
            </a:pPr>
            <a:r>
              <a:t>9</a:t>
            </a:r>
          </a:p>
        </p:txBody>
      </p:sp>
      <p:pic>
        <p:nvPicPr>
          <p:cNvPr id="8" name="Picture 7" descr="Fig_Ch6_1_PerformanceMetrics.png"/>
          <p:cNvPicPr>
            <a:picLocks noChangeAspect="1"/>
          </p:cNvPicPr>
          <p:nvPr/>
        </p:nvPicPr>
        <p:blipFill>
          <a:blip r:embed="rId2"/>
          <a:stretch>
            <a:fillRect/>
          </a:stretch>
        </p:blipFill>
        <p:spPr>
          <a:xfrm>
            <a:off x="5943600" y="1005840"/>
            <a:ext cx="5669280" cy="2743200"/>
          </a:xfrm>
          <a:prstGeom prst="rect">
            <a:avLst/>
          </a:prstGeom>
        </p:spPr>
      </p:pic>
      <p:pic>
        <p:nvPicPr>
          <p:cNvPr id="9" name="Picture 8" descr="Fig_Ch6_3_ROC_AUC.png"/>
          <p:cNvPicPr>
            <a:picLocks noChangeAspect="1"/>
          </p:cNvPicPr>
          <p:nvPr/>
        </p:nvPicPr>
        <p:blipFill>
          <a:blip r:embed="rId3"/>
          <a:stretch>
            <a:fillRect/>
          </a:stretch>
        </p:blipFill>
        <p:spPr>
          <a:xfrm>
            <a:off x="5943600" y="3840480"/>
            <a:ext cx="5669280" cy="2743200"/>
          </a:xfrm>
          <a:prstGeom prst="rect">
            <a:avLst/>
          </a:prstGeom>
        </p:spPr>
      </p:pic>
      <p:sp>
        <p:nvSpPr>
          <p:cNvPr id="10" name="TextBox 9">
            <a:extLst>
              <a:ext uri="{FF2B5EF4-FFF2-40B4-BE49-F238E27FC236}">
                <a16:creationId xmlns:a16="http://schemas.microsoft.com/office/drawing/2014/main" id="{5C755E14-0946-BABC-EFC0-844E1C2D3402}"/>
              </a:ext>
            </a:extLst>
          </p:cNvPr>
          <p:cNvSpPr txBox="1"/>
          <p:nvPr/>
        </p:nvSpPr>
        <p:spPr>
          <a:xfrm>
            <a:off x="457200" y="1051560"/>
            <a:ext cx="5303520"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b="1">
                <a:solidFill>
                  <a:srgbClr val="2E4057"/>
                </a:solidFill>
              </a:defRPr>
            </a:pPr>
            <a:r>
              <a:rPr kumimoji="0" sz="2000" b="1" i="0" u="none" strike="noStrike" kern="1200" cap="none" spc="0" normalizeH="0" baseline="0" noProof="0" dirty="0">
                <a:ln>
                  <a:noFill/>
                </a:ln>
                <a:solidFill>
                  <a:srgbClr val="16213E"/>
                </a:solidFill>
                <a:effectLst/>
                <a:uLnTx/>
                <a:uFillTx/>
                <a:latin typeface="Calibri"/>
                <a:ea typeface="+mn-ea"/>
                <a:cs typeface="+mn-cs"/>
              </a:rPr>
              <a:t>Results on 46,577 Validation Samples</a:t>
            </a:r>
          </a:p>
        </p:txBody>
      </p:sp>
      <p:sp>
        <p:nvSpPr>
          <p:cNvPr id="11" name="TextBox 10">
            <a:extLst>
              <a:ext uri="{FF2B5EF4-FFF2-40B4-BE49-F238E27FC236}">
                <a16:creationId xmlns:a16="http://schemas.microsoft.com/office/drawing/2014/main" id="{2609C776-1C7E-CD4B-6E47-1F36EBDE32DA}"/>
              </a:ext>
            </a:extLst>
          </p:cNvPr>
          <p:cNvSpPr txBox="1"/>
          <p:nvPr/>
        </p:nvSpPr>
        <p:spPr>
          <a:xfrm>
            <a:off x="457200" y="1554480"/>
            <a:ext cx="5303520" cy="45720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Accuracy: 94.70% — Out of every 100 posts, our model correctly classifies about 95 of them.</a:t>
            </a:r>
          </a:p>
          <a:p>
            <a:pPr marL="0" marR="0" lvl="0" indent="0" algn="l" defTabSz="457200" rtl="0" eaLnBrk="1" fontAlgn="auto" latinLnBrk="0" hangingPunct="1">
              <a:lnSpc>
                <a:spcPct val="100000"/>
              </a:lnSpc>
              <a:spcBef>
                <a:spcPts val="0"/>
              </a:spcBef>
              <a:spcAft>
                <a:spcPts val="8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Precision: 81.92% — When the model says a post is bullying, it is correct about 82% of the time (low false alarms).</a:t>
            </a:r>
          </a:p>
          <a:p>
            <a:pPr marL="0" marR="0" lvl="0" indent="0" algn="l" defTabSz="457200" rtl="0" eaLnBrk="1" fontAlgn="auto" latinLnBrk="0" hangingPunct="1">
              <a:lnSpc>
                <a:spcPct val="100000"/>
              </a:lnSpc>
              <a:spcBef>
                <a:spcPts val="0"/>
              </a:spcBef>
              <a:spcAft>
                <a:spcPts val="8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Recall: 78.80% — The model catches about 79 out of every 100 actual bullying posts (some slip through).</a:t>
            </a:r>
          </a:p>
          <a:p>
            <a:pPr marL="0" marR="0" lvl="0" indent="0" algn="l" defTabSz="457200" rtl="0" eaLnBrk="1" fontAlgn="auto" latinLnBrk="0" hangingPunct="1">
              <a:lnSpc>
                <a:spcPct val="100000"/>
              </a:lnSpc>
              <a:spcBef>
                <a:spcPts val="0"/>
              </a:spcBef>
              <a:spcAft>
                <a:spcPts val="8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F1-Score: 80.33% — The balanced average of precision and recall, showing consistent overall performance.</a:t>
            </a:r>
          </a:p>
          <a:p>
            <a:pPr marL="0" marR="0" lvl="0" indent="0" algn="l" defTabSz="457200" rtl="0" eaLnBrk="1" fontAlgn="auto" latinLnBrk="0" hangingPunct="1">
              <a:lnSpc>
                <a:spcPct val="100000"/>
              </a:lnSpc>
              <a:spcBef>
                <a:spcPts val="0"/>
              </a:spcBef>
              <a:spcAft>
                <a:spcPts val="800"/>
              </a:spcAft>
              <a:buClrTx/>
              <a:buSzTx/>
              <a:buFontTx/>
              <a:buNone/>
              <a:tabLst/>
              <a:defRPr sz="1500" b="0">
                <a:solidFill>
                  <a:srgbClr val="2C2C2C"/>
                </a:solidFill>
              </a:defRPr>
            </a:pPr>
            <a:endParaRPr kumimoji="0" sz="1500" b="0" i="0" u="none" strike="noStrike" kern="1200" cap="none" spc="0" normalizeH="0" baseline="0" noProof="0" dirty="0">
              <a:ln>
                <a:noFill/>
              </a:ln>
              <a:solidFill>
                <a:srgbClr val="2C2C2C"/>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Confusion Matrix Breakdown:</a:t>
            </a:r>
          </a:p>
          <a:p>
            <a:pPr marL="0" marR="0" lvl="0" indent="0" algn="l" defTabSz="457200" rtl="0" eaLnBrk="1" fontAlgn="auto" latinLnBrk="0" hangingPunct="1">
              <a:lnSpc>
                <a:spcPct val="100000"/>
              </a:lnSpc>
              <a:spcBef>
                <a:spcPts val="0"/>
              </a:spcBef>
              <a:spcAft>
                <a:spcPts val="8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39,066 True Negatives — non-bully posts correctly identified as safe.</a:t>
            </a:r>
          </a:p>
          <a:p>
            <a:pPr marL="0" marR="0" lvl="0" indent="0" algn="l" defTabSz="457200" rtl="0" eaLnBrk="1" fontAlgn="auto" latinLnBrk="0" hangingPunct="1">
              <a:lnSpc>
                <a:spcPct val="100000"/>
              </a:lnSpc>
              <a:spcBef>
                <a:spcPts val="0"/>
              </a:spcBef>
              <a:spcAft>
                <a:spcPts val="8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5,042 True Positives — bullying posts correctly caught.</a:t>
            </a:r>
          </a:p>
          <a:p>
            <a:pPr marL="0" marR="0" lvl="0" indent="0" algn="l" defTabSz="457200" rtl="0" eaLnBrk="1" fontAlgn="auto" latinLnBrk="0" hangingPunct="1">
              <a:lnSpc>
                <a:spcPct val="100000"/>
              </a:lnSpc>
              <a:spcBef>
                <a:spcPts val="0"/>
              </a:spcBef>
              <a:spcAft>
                <a:spcPts val="8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1,113 False Positives — safe posts wrongly flagged as bullying.</a:t>
            </a:r>
          </a:p>
          <a:p>
            <a:pPr marL="0" marR="0" lvl="0" indent="0" algn="l" defTabSz="457200" rtl="0" eaLnBrk="1" fontAlgn="auto" latinLnBrk="0" hangingPunct="1">
              <a:lnSpc>
                <a:spcPct val="100000"/>
              </a:lnSpc>
              <a:spcBef>
                <a:spcPts val="0"/>
              </a:spcBef>
              <a:spcAft>
                <a:spcPts val="8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1,356 False Negatives — bullying posts that the model missed.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8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800"/>
            <a:ext cx="12191695" cy="7112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wrap="square" lIns="508000" rtlCol="0" anchor="ctr"/>
          <a:lstStyle/>
          <a:p>
            <a:pPr algn="l">
              <a:defRPr sz="3000" b="1">
                <a:solidFill>
                  <a:srgbClr val="FFFFFF"/>
                </a:solidFill>
              </a:defRPr>
            </a:pPr>
            <a:r>
              <a:t>COMPARATIVE ANALYSIS</a:t>
            </a:r>
          </a:p>
        </p:txBody>
      </p:sp>
      <p:sp>
        <p:nvSpPr>
          <p:cNvPr id="4" name="TextBox 3"/>
          <p:cNvSpPr txBox="1"/>
          <p:nvPr/>
        </p:nvSpPr>
        <p:spPr>
          <a:xfrm>
            <a:off x="11277295" y="6502400"/>
            <a:ext cx="731520" cy="279400"/>
          </a:xfrm>
          <a:prstGeom prst="rect">
            <a:avLst/>
          </a:prstGeom>
          <a:noFill/>
        </p:spPr>
        <p:txBody>
          <a:bodyPr wrap="none">
            <a:spAutoFit/>
          </a:bodyPr>
          <a:lstStyle/>
          <a:p>
            <a:pPr algn="r">
              <a:defRPr sz="1000">
                <a:solidFill>
                  <a:srgbClr val="888888"/>
                </a:solidFill>
              </a:defRPr>
            </a:pPr>
            <a:r>
              <a:t>10</a:t>
            </a:r>
          </a:p>
        </p:txBody>
      </p:sp>
      <p:graphicFrame>
        <p:nvGraphicFramePr>
          <p:cNvPr id="5" name="Table 4"/>
          <p:cNvGraphicFramePr>
            <a:graphicFrameLocks noGrp="1"/>
          </p:cNvGraphicFramePr>
          <p:nvPr>
            <p:extLst>
              <p:ext uri="{D42A27DB-BD31-4B8C-83A1-F6EECF244321}">
                <p14:modId xmlns:p14="http://schemas.microsoft.com/office/powerpoint/2010/main" val="333745060"/>
              </p:ext>
            </p:extLst>
          </p:nvPr>
        </p:nvGraphicFramePr>
        <p:xfrm>
          <a:off x="365760" y="1129728"/>
          <a:ext cx="11426400" cy="2102400"/>
        </p:xfrm>
        <a:graphic>
          <a:graphicData uri="http://schemas.openxmlformats.org/drawingml/2006/table">
            <a:tbl>
              <a:tblPr firstRow="1" bandRow="1">
                <a:tableStyleId>{5C22544A-7EE6-4342-B048-85BDC9FD1C3A}</a:tableStyleId>
              </a:tblPr>
              <a:tblGrid>
                <a:gridCol w="3174000">
                  <a:extLst>
                    <a:ext uri="{9D8B030D-6E8A-4147-A177-3AD203B41FA5}">
                      <a16:colId xmlns:a16="http://schemas.microsoft.com/office/drawing/2014/main" val="20000"/>
                    </a:ext>
                  </a:extLst>
                </a:gridCol>
                <a:gridCol w="4443600">
                  <a:extLst>
                    <a:ext uri="{9D8B030D-6E8A-4147-A177-3AD203B41FA5}">
                      <a16:colId xmlns:a16="http://schemas.microsoft.com/office/drawing/2014/main" val="20001"/>
                    </a:ext>
                  </a:extLst>
                </a:gridCol>
                <a:gridCol w="3808800">
                  <a:extLst>
                    <a:ext uri="{9D8B030D-6E8A-4147-A177-3AD203B41FA5}">
                      <a16:colId xmlns:a16="http://schemas.microsoft.com/office/drawing/2014/main" val="20002"/>
                    </a:ext>
                  </a:extLst>
                </a:gridCol>
              </a:tblGrid>
              <a:tr h="420480">
                <a:tc>
                  <a:txBody>
                    <a:bodyPr/>
                    <a:lstStyle/>
                    <a:p>
                      <a:pPr algn="l">
                        <a:defRPr sz="1200" b="1">
                          <a:solidFill>
                            <a:srgbClr val="FFFFFF"/>
                          </a:solidFill>
                        </a:defRPr>
                      </a:pPr>
                      <a:r>
                        <a:rPr dirty="0"/>
                        <a:t>Metric</a:t>
                      </a:r>
                    </a:p>
                  </a:txBody>
                  <a:tcPr>
                    <a:solidFill>
                      <a:srgbClr val="16213E"/>
                    </a:solidFill>
                  </a:tcPr>
                </a:tc>
                <a:tc>
                  <a:txBody>
                    <a:bodyPr/>
                    <a:lstStyle/>
                    <a:p>
                      <a:pPr algn="l">
                        <a:defRPr sz="1200" b="1">
                          <a:solidFill>
                            <a:srgbClr val="FFFFFF"/>
                          </a:solidFill>
                        </a:defRPr>
                      </a:pPr>
                      <a:r>
                        <a:t>Cyberbully Shield (Proposed)</a:t>
                      </a:r>
                    </a:p>
                  </a:txBody>
                  <a:tcPr>
                    <a:solidFill>
                      <a:srgbClr val="16213E"/>
                    </a:solidFill>
                  </a:tcPr>
                </a:tc>
                <a:tc>
                  <a:txBody>
                    <a:bodyPr/>
                    <a:lstStyle/>
                    <a:p>
                      <a:pPr algn="l">
                        <a:defRPr sz="1200" b="1">
                          <a:solidFill>
                            <a:srgbClr val="FFFFFF"/>
                          </a:solidFill>
                        </a:defRPr>
                      </a:pPr>
                      <a:r>
                        <a:t>BERT Baseline</a:t>
                      </a:r>
                    </a:p>
                  </a:txBody>
                  <a:tcPr>
                    <a:solidFill>
                      <a:srgbClr val="16213E"/>
                    </a:solidFill>
                  </a:tcPr>
                </a:tc>
                <a:extLst>
                  <a:ext uri="{0D108BD9-81ED-4DB2-BD59-A6C34878D82A}">
                    <a16:rowId xmlns:a16="http://schemas.microsoft.com/office/drawing/2014/main" val="10000"/>
                  </a:ext>
                </a:extLst>
              </a:tr>
              <a:tr h="420480">
                <a:tc>
                  <a:txBody>
                    <a:bodyPr/>
                    <a:lstStyle/>
                    <a:p>
                      <a:pPr algn="l">
                        <a:defRPr sz="1100" b="0">
                          <a:solidFill>
                            <a:srgbClr val="2C2C2C"/>
                          </a:solidFill>
                        </a:defRPr>
                      </a:pPr>
                      <a:r>
                        <a:rPr dirty="0"/>
                        <a:t>Accuracy</a:t>
                      </a:r>
                    </a:p>
                  </a:txBody>
                  <a:tcPr>
                    <a:solidFill>
                      <a:srgbClr val="FFFFFF"/>
                    </a:solidFill>
                  </a:tcPr>
                </a:tc>
                <a:tc>
                  <a:txBody>
                    <a:bodyPr/>
                    <a:lstStyle/>
                    <a:p>
                      <a:pPr algn="l">
                        <a:defRPr sz="1100" b="0">
                          <a:solidFill>
                            <a:srgbClr val="2C2C2C"/>
                          </a:solidFill>
                        </a:defRPr>
                      </a:pPr>
                      <a:r>
                        <a:t>94.70%</a:t>
                      </a:r>
                    </a:p>
                  </a:txBody>
                  <a:tcPr>
                    <a:solidFill>
                      <a:srgbClr val="FFFFFF"/>
                    </a:solidFill>
                  </a:tcPr>
                </a:tc>
                <a:tc>
                  <a:txBody>
                    <a:bodyPr/>
                    <a:lstStyle/>
                    <a:p>
                      <a:pPr algn="l">
                        <a:defRPr sz="1100" b="0">
                          <a:solidFill>
                            <a:srgbClr val="2C2C2C"/>
                          </a:solidFill>
                        </a:defRPr>
                      </a:pPr>
                      <a:r>
                        <a:t>69.74%</a:t>
                      </a:r>
                    </a:p>
                  </a:txBody>
                  <a:tcPr>
                    <a:solidFill>
                      <a:srgbClr val="FFFFFF"/>
                    </a:solidFill>
                  </a:tcPr>
                </a:tc>
                <a:extLst>
                  <a:ext uri="{0D108BD9-81ED-4DB2-BD59-A6C34878D82A}">
                    <a16:rowId xmlns:a16="http://schemas.microsoft.com/office/drawing/2014/main" val="10001"/>
                  </a:ext>
                </a:extLst>
              </a:tr>
              <a:tr h="420480">
                <a:tc>
                  <a:txBody>
                    <a:bodyPr/>
                    <a:lstStyle/>
                    <a:p>
                      <a:pPr algn="l">
                        <a:defRPr sz="1100" b="0">
                          <a:solidFill>
                            <a:srgbClr val="2C2C2C"/>
                          </a:solidFill>
                        </a:defRPr>
                      </a:pPr>
                      <a:r>
                        <a:rPr dirty="0"/>
                        <a:t>Precision</a:t>
                      </a:r>
                    </a:p>
                  </a:txBody>
                  <a:tcPr>
                    <a:solidFill>
                      <a:srgbClr val="F0F0F5"/>
                    </a:solidFill>
                  </a:tcPr>
                </a:tc>
                <a:tc>
                  <a:txBody>
                    <a:bodyPr/>
                    <a:lstStyle/>
                    <a:p>
                      <a:pPr algn="l">
                        <a:defRPr sz="1100" b="0">
                          <a:solidFill>
                            <a:srgbClr val="2C2C2C"/>
                          </a:solidFill>
                        </a:defRPr>
                      </a:pPr>
                      <a:r>
                        <a:t>81.92%</a:t>
                      </a:r>
                    </a:p>
                  </a:txBody>
                  <a:tcPr>
                    <a:solidFill>
                      <a:srgbClr val="F0F0F5"/>
                    </a:solidFill>
                  </a:tcPr>
                </a:tc>
                <a:tc>
                  <a:txBody>
                    <a:bodyPr/>
                    <a:lstStyle/>
                    <a:p>
                      <a:pPr algn="l">
                        <a:defRPr sz="1100" b="0">
                          <a:solidFill>
                            <a:srgbClr val="2C2C2C"/>
                          </a:solidFill>
                        </a:defRPr>
                      </a:pPr>
                      <a:r>
                        <a:t>70.17%</a:t>
                      </a:r>
                    </a:p>
                  </a:txBody>
                  <a:tcPr>
                    <a:solidFill>
                      <a:srgbClr val="F0F0F5"/>
                    </a:solidFill>
                  </a:tcPr>
                </a:tc>
                <a:extLst>
                  <a:ext uri="{0D108BD9-81ED-4DB2-BD59-A6C34878D82A}">
                    <a16:rowId xmlns:a16="http://schemas.microsoft.com/office/drawing/2014/main" val="10002"/>
                  </a:ext>
                </a:extLst>
              </a:tr>
              <a:tr h="420480">
                <a:tc>
                  <a:txBody>
                    <a:bodyPr/>
                    <a:lstStyle/>
                    <a:p>
                      <a:pPr algn="l">
                        <a:defRPr sz="1100" b="0">
                          <a:solidFill>
                            <a:srgbClr val="2C2C2C"/>
                          </a:solidFill>
                        </a:defRPr>
                      </a:pPr>
                      <a:r>
                        <a:t>Recall</a:t>
                      </a:r>
                    </a:p>
                  </a:txBody>
                  <a:tcPr>
                    <a:solidFill>
                      <a:srgbClr val="FFFFFF"/>
                    </a:solidFill>
                  </a:tcPr>
                </a:tc>
                <a:tc>
                  <a:txBody>
                    <a:bodyPr/>
                    <a:lstStyle/>
                    <a:p>
                      <a:pPr algn="l">
                        <a:defRPr sz="1100" b="0">
                          <a:solidFill>
                            <a:srgbClr val="2C2C2C"/>
                          </a:solidFill>
                        </a:defRPr>
                      </a:pPr>
                      <a:r>
                        <a:t>78.80%</a:t>
                      </a:r>
                    </a:p>
                  </a:txBody>
                  <a:tcPr>
                    <a:solidFill>
                      <a:srgbClr val="FFFFFF"/>
                    </a:solidFill>
                  </a:tcPr>
                </a:tc>
                <a:tc>
                  <a:txBody>
                    <a:bodyPr/>
                    <a:lstStyle/>
                    <a:p>
                      <a:pPr algn="l">
                        <a:defRPr sz="1100" b="0">
                          <a:solidFill>
                            <a:srgbClr val="2C2C2C"/>
                          </a:solidFill>
                        </a:defRPr>
                      </a:pPr>
                      <a:r>
                        <a:t>83.37%</a:t>
                      </a:r>
                    </a:p>
                  </a:txBody>
                  <a:tcPr>
                    <a:solidFill>
                      <a:srgbClr val="FFFFFF"/>
                    </a:solidFill>
                  </a:tcPr>
                </a:tc>
                <a:extLst>
                  <a:ext uri="{0D108BD9-81ED-4DB2-BD59-A6C34878D82A}">
                    <a16:rowId xmlns:a16="http://schemas.microsoft.com/office/drawing/2014/main" val="10003"/>
                  </a:ext>
                </a:extLst>
              </a:tr>
              <a:tr h="420480">
                <a:tc>
                  <a:txBody>
                    <a:bodyPr/>
                    <a:lstStyle/>
                    <a:p>
                      <a:pPr algn="l">
                        <a:defRPr sz="1100" b="0">
                          <a:solidFill>
                            <a:srgbClr val="2C2C2C"/>
                          </a:solidFill>
                        </a:defRPr>
                      </a:pPr>
                      <a:r>
                        <a:t>F1-Score</a:t>
                      </a:r>
                    </a:p>
                  </a:txBody>
                  <a:tcPr>
                    <a:solidFill>
                      <a:srgbClr val="F0F0F5"/>
                    </a:solidFill>
                  </a:tcPr>
                </a:tc>
                <a:tc>
                  <a:txBody>
                    <a:bodyPr/>
                    <a:lstStyle/>
                    <a:p>
                      <a:pPr algn="l">
                        <a:defRPr sz="1100" b="0">
                          <a:solidFill>
                            <a:srgbClr val="2C2C2C"/>
                          </a:solidFill>
                        </a:defRPr>
                      </a:pPr>
                      <a:r>
                        <a:t>80.33%</a:t>
                      </a:r>
                    </a:p>
                  </a:txBody>
                  <a:tcPr>
                    <a:solidFill>
                      <a:srgbClr val="F0F0F5"/>
                    </a:solidFill>
                  </a:tcPr>
                </a:tc>
                <a:tc>
                  <a:txBody>
                    <a:bodyPr/>
                    <a:lstStyle/>
                    <a:p>
                      <a:pPr algn="l">
                        <a:defRPr sz="1100" b="0">
                          <a:solidFill>
                            <a:srgbClr val="2C2C2C"/>
                          </a:solidFill>
                        </a:defRPr>
                      </a:pPr>
                      <a:r>
                        <a:rPr dirty="0"/>
                        <a:t>76.20%</a:t>
                      </a:r>
                    </a:p>
                  </a:txBody>
                  <a:tcPr>
                    <a:solidFill>
                      <a:srgbClr val="F0F0F5"/>
                    </a:solidFill>
                  </a:tcPr>
                </a:tc>
                <a:extLst>
                  <a:ext uri="{0D108BD9-81ED-4DB2-BD59-A6C34878D82A}">
                    <a16:rowId xmlns:a16="http://schemas.microsoft.com/office/drawing/2014/main" val="10004"/>
                  </a:ext>
                </a:extLst>
              </a:tr>
            </a:tbl>
          </a:graphicData>
        </a:graphic>
      </p:graphicFrame>
      <p:sp>
        <p:nvSpPr>
          <p:cNvPr id="7" name="TextBox 6">
            <a:extLst>
              <a:ext uri="{FF2B5EF4-FFF2-40B4-BE49-F238E27FC236}">
                <a16:creationId xmlns:a16="http://schemas.microsoft.com/office/drawing/2014/main" id="{5C5D63ED-3535-D660-F2BA-07290EE3A22E}"/>
              </a:ext>
            </a:extLst>
          </p:cNvPr>
          <p:cNvSpPr txBox="1"/>
          <p:nvPr/>
        </p:nvSpPr>
        <p:spPr>
          <a:xfrm>
            <a:off x="457200" y="3383280"/>
            <a:ext cx="10972800"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b="1">
                <a:solidFill>
                  <a:srgbClr val="2E4057"/>
                </a:solidFill>
              </a:defRPr>
            </a:pPr>
            <a:r>
              <a:rPr kumimoji="0" sz="2000" b="1" i="0" u="none" strike="noStrike" kern="1200" cap="none" spc="0" normalizeH="0" baseline="0" noProof="0" dirty="0">
                <a:ln>
                  <a:noFill/>
                </a:ln>
                <a:solidFill>
                  <a:srgbClr val="16213E"/>
                </a:solidFill>
                <a:effectLst/>
                <a:uLnTx/>
                <a:uFillTx/>
                <a:latin typeface="Calibri"/>
                <a:ea typeface="+mn-ea"/>
                <a:cs typeface="+mn-cs"/>
              </a:rPr>
              <a:t>Key Observations</a:t>
            </a:r>
          </a:p>
        </p:txBody>
      </p:sp>
      <p:sp>
        <p:nvSpPr>
          <p:cNvPr id="8" name="TextBox 7">
            <a:extLst>
              <a:ext uri="{FF2B5EF4-FFF2-40B4-BE49-F238E27FC236}">
                <a16:creationId xmlns:a16="http://schemas.microsoft.com/office/drawing/2014/main" id="{DCF06988-C28F-4EBC-38E7-E26E03D0104B}"/>
              </a:ext>
            </a:extLst>
          </p:cNvPr>
          <p:cNvSpPr txBox="1"/>
          <p:nvPr/>
        </p:nvSpPr>
        <p:spPr>
          <a:xfrm>
            <a:off x="457200" y="3840480"/>
            <a:ext cx="10972800" cy="2743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0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Accuracy jumped from 69.74% to 94.70% — a massive 25-point improvement. This means our model correctly classifies 95 out of 100 posts, compared to only 70 by the BERT baseline.</a:t>
            </a:r>
          </a:p>
          <a:p>
            <a:pPr marL="0" marR="0" lvl="0" indent="0" algn="l" defTabSz="457200" rtl="0" eaLnBrk="1" fontAlgn="auto" latinLnBrk="0" hangingPunct="1">
              <a:lnSpc>
                <a:spcPct val="100000"/>
              </a:lnSpc>
              <a:spcBef>
                <a:spcPts val="0"/>
              </a:spcBef>
              <a:spcAft>
                <a:spcPts val="10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Precision improved from 70.17% to 81.92% — our model produces far fewer false alarms (wrongly flagging safe posts as bullying).</a:t>
            </a:r>
          </a:p>
          <a:p>
            <a:pPr marL="0" marR="0" lvl="0" indent="0" algn="l" defTabSz="457200" rtl="0" eaLnBrk="1" fontAlgn="auto" latinLnBrk="0" hangingPunct="1">
              <a:lnSpc>
                <a:spcPct val="100000"/>
              </a:lnSpc>
              <a:spcBef>
                <a:spcPts val="0"/>
              </a:spcBef>
              <a:spcAft>
                <a:spcPts val="10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Recall dropped slightly from 83.37% to 78.80% — the BERT baseline catches more bullying posts, but only because it over-predicts the bully class, causing many false positives.</a:t>
            </a:r>
          </a:p>
          <a:p>
            <a:pPr marL="0" marR="0" lvl="0" indent="0" algn="l" defTabSz="457200" rtl="0" eaLnBrk="1" fontAlgn="auto" latinLnBrk="0" hangingPunct="1">
              <a:lnSpc>
                <a:spcPct val="100000"/>
              </a:lnSpc>
              <a:spcBef>
                <a:spcPts val="0"/>
              </a:spcBef>
              <a:spcAft>
                <a:spcPts val="10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F1-Score rose from 76.20% to 80.33% — proving our model has a better balance between catching bullies and avoiding false alarms.</a:t>
            </a:r>
          </a:p>
          <a:p>
            <a:pPr marL="0" marR="0" lvl="0" indent="0" algn="l" defTabSz="457200" rtl="0" eaLnBrk="1" fontAlgn="auto" latinLnBrk="0" hangingPunct="1">
              <a:lnSpc>
                <a:spcPct val="100000"/>
              </a:lnSpc>
              <a:spcBef>
                <a:spcPts val="0"/>
              </a:spcBef>
              <a:spcAft>
                <a:spcPts val="10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Why does our lighter model win? — We used </a:t>
            </a:r>
            <a:r>
              <a:rPr kumimoji="0" sz="1500" b="0" i="0" u="none" strike="noStrike" kern="1200" cap="none" spc="0" normalizeH="0" baseline="0" noProof="0" dirty="0" err="1">
                <a:ln>
                  <a:noFill/>
                </a:ln>
                <a:solidFill>
                  <a:srgbClr val="2C2C2C"/>
                </a:solidFill>
                <a:effectLst/>
                <a:uLnTx/>
                <a:uFillTx/>
                <a:latin typeface="Calibri"/>
                <a:ea typeface="+mn-ea"/>
                <a:cs typeface="+mn-cs"/>
              </a:rPr>
              <a:t>DistilBERT</a:t>
            </a:r>
            <a:r>
              <a:rPr kumimoji="0" sz="1500" b="0" i="0" u="none" strike="noStrike" kern="1200" cap="none" spc="0" normalizeH="0" baseline="0" noProof="0" dirty="0">
                <a:ln>
                  <a:noFill/>
                </a:ln>
                <a:solidFill>
                  <a:srgbClr val="2C2C2C"/>
                </a:solidFill>
                <a:effectLst/>
                <a:uLnTx/>
                <a:uFillTx/>
                <a:latin typeface="Calibri"/>
                <a:ea typeface="+mn-ea"/>
                <a:cs typeface="+mn-cs"/>
              </a:rPr>
              <a:t> (smaller than BERT), but our Cross-Attention Fusion and Two-Phase Training Strategy on a 80× larger dataset (465,767 vs. 5,793 samples) made the real difference. Good architecture + good data beats a bigger model.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8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800"/>
            <a:ext cx="12191695" cy="7112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wrap="square" lIns="508000" rtlCol="0" anchor="ctr"/>
          <a:lstStyle/>
          <a:p>
            <a:pPr algn="l">
              <a:defRPr sz="3000" b="1">
                <a:solidFill>
                  <a:srgbClr val="FFFFFF"/>
                </a:solidFill>
              </a:defRPr>
            </a:pPr>
            <a:r>
              <a:t>CONCLUSION &amp; FUTURE SCOPE</a:t>
            </a:r>
          </a:p>
        </p:txBody>
      </p:sp>
      <p:sp>
        <p:nvSpPr>
          <p:cNvPr id="4" name="TextBox 3"/>
          <p:cNvSpPr txBox="1"/>
          <p:nvPr/>
        </p:nvSpPr>
        <p:spPr>
          <a:xfrm>
            <a:off x="11277295" y="6502400"/>
            <a:ext cx="731520" cy="279400"/>
          </a:xfrm>
          <a:prstGeom prst="rect">
            <a:avLst/>
          </a:prstGeom>
          <a:noFill/>
        </p:spPr>
        <p:txBody>
          <a:bodyPr wrap="none">
            <a:spAutoFit/>
          </a:bodyPr>
          <a:lstStyle/>
          <a:p>
            <a:pPr algn="r">
              <a:defRPr sz="1000">
                <a:solidFill>
                  <a:srgbClr val="888888"/>
                </a:solidFill>
              </a:defRPr>
            </a:pPr>
            <a:r>
              <a:t>11</a:t>
            </a:r>
          </a:p>
        </p:txBody>
      </p:sp>
      <p:sp>
        <p:nvSpPr>
          <p:cNvPr id="5" name="TextBox 4"/>
          <p:cNvSpPr txBox="1"/>
          <p:nvPr/>
        </p:nvSpPr>
        <p:spPr>
          <a:xfrm>
            <a:off x="457200" y="1051560"/>
            <a:ext cx="5303520" cy="430887"/>
          </a:xfrm>
          <a:prstGeom prst="rect">
            <a:avLst/>
          </a:prstGeom>
          <a:noFill/>
        </p:spPr>
        <p:txBody>
          <a:bodyPr wrap="square">
            <a:spAutoFit/>
          </a:bodyPr>
          <a:lstStyle/>
          <a:p>
            <a:pPr algn="l">
              <a:spcAft>
                <a:spcPts val="800"/>
              </a:spcAft>
              <a:defRPr sz="2200" b="1">
                <a:solidFill>
                  <a:srgbClr val="2E4057"/>
                </a:solidFill>
              </a:defRPr>
            </a:pPr>
            <a:r>
              <a:rPr dirty="0">
                <a:solidFill>
                  <a:srgbClr val="16213E"/>
                </a:solidFill>
              </a:rPr>
              <a:t>Key Contributions</a:t>
            </a:r>
          </a:p>
        </p:txBody>
      </p:sp>
      <p:sp>
        <p:nvSpPr>
          <p:cNvPr id="7" name="Rectangle 6"/>
          <p:cNvSpPr/>
          <p:nvPr/>
        </p:nvSpPr>
        <p:spPr>
          <a:xfrm>
            <a:off x="5943600" y="1097280"/>
            <a:ext cx="25400" cy="347472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051560"/>
            <a:ext cx="5303520" cy="430887"/>
          </a:xfrm>
          <a:prstGeom prst="rect">
            <a:avLst/>
          </a:prstGeom>
          <a:noFill/>
        </p:spPr>
        <p:txBody>
          <a:bodyPr wrap="square">
            <a:spAutoFit/>
          </a:bodyPr>
          <a:lstStyle/>
          <a:p>
            <a:pPr algn="l">
              <a:spcAft>
                <a:spcPts val="800"/>
              </a:spcAft>
              <a:defRPr sz="2200" b="1">
                <a:solidFill>
                  <a:srgbClr val="2E4057"/>
                </a:solidFill>
              </a:defRPr>
            </a:pPr>
            <a:r>
              <a:rPr dirty="0">
                <a:solidFill>
                  <a:srgbClr val="16213E"/>
                </a:solidFill>
              </a:rPr>
              <a:t>Future Scope</a:t>
            </a:r>
          </a:p>
        </p:txBody>
      </p:sp>
      <p:sp>
        <p:nvSpPr>
          <p:cNvPr id="10" name="TextBox 9"/>
          <p:cNvSpPr txBox="1"/>
          <p:nvPr/>
        </p:nvSpPr>
        <p:spPr>
          <a:xfrm>
            <a:off x="457200" y="4780444"/>
            <a:ext cx="10972800" cy="400110"/>
          </a:xfrm>
          <a:prstGeom prst="rect">
            <a:avLst/>
          </a:prstGeom>
          <a:noFill/>
        </p:spPr>
        <p:txBody>
          <a:bodyPr wrap="square">
            <a:spAutoFit/>
          </a:bodyPr>
          <a:lstStyle/>
          <a:p>
            <a:pPr algn="l">
              <a:spcAft>
                <a:spcPts val="800"/>
              </a:spcAft>
              <a:defRPr sz="2000" b="1">
                <a:solidFill>
                  <a:srgbClr val="C0392B"/>
                </a:solidFill>
              </a:defRPr>
            </a:pPr>
            <a:r>
              <a:rPr dirty="0">
                <a:solidFill>
                  <a:srgbClr val="16213E"/>
                </a:solidFill>
              </a:rPr>
              <a:t>Limitations</a:t>
            </a:r>
          </a:p>
        </p:txBody>
      </p:sp>
      <p:sp>
        <p:nvSpPr>
          <p:cNvPr id="12" name="TextBox 11">
            <a:extLst>
              <a:ext uri="{FF2B5EF4-FFF2-40B4-BE49-F238E27FC236}">
                <a16:creationId xmlns:a16="http://schemas.microsoft.com/office/drawing/2014/main" id="{A71542CE-76F2-4585-6099-786ACD08B636}"/>
              </a:ext>
            </a:extLst>
          </p:cNvPr>
          <p:cNvSpPr txBox="1"/>
          <p:nvPr/>
        </p:nvSpPr>
        <p:spPr>
          <a:xfrm>
            <a:off x="457200" y="1549400"/>
            <a:ext cx="5303520" cy="2743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1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Built a system that reads both text and images at the same time, unlike existing text-only detectors.</a:t>
            </a:r>
          </a:p>
          <a:p>
            <a:pPr marL="0" marR="0" lvl="0" indent="0" algn="l" defTabSz="457200" rtl="0" eaLnBrk="1" fontAlgn="auto" latinLnBrk="0" hangingPunct="1">
              <a:lnSpc>
                <a:spcPct val="100000"/>
              </a:lnSpc>
              <a:spcBef>
                <a:spcPts val="0"/>
              </a:spcBef>
              <a:spcAft>
                <a:spcPts val="11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Used Cross-Attention Fusion so the model can learn which parts of an image relate to which words in the text.</a:t>
            </a:r>
          </a:p>
          <a:p>
            <a:pPr marL="0" marR="0" lvl="0" indent="0" algn="l" defTabSz="457200" rtl="0" eaLnBrk="1" fontAlgn="auto" latinLnBrk="0" hangingPunct="1">
              <a:lnSpc>
                <a:spcPct val="100000"/>
              </a:lnSpc>
              <a:spcBef>
                <a:spcPts val="0"/>
              </a:spcBef>
              <a:spcAft>
                <a:spcPts val="11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Added EasyOCR to read hidden text inside memes and screenshots — a major blind spot in other systems.</a:t>
            </a:r>
          </a:p>
          <a:p>
            <a:pPr marL="0" marR="0" lvl="0" indent="0" algn="l" defTabSz="457200" rtl="0" eaLnBrk="1" fontAlgn="auto" latinLnBrk="0" hangingPunct="1">
              <a:lnSpc>
                <a:spcPct val="100000"/>
              </a:lnSpc>
              <a:spcBef>
                <a:spcPts val="0"/>
              </a:spcBef>
              <a:spcAft>
                <a:spcPts val="11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Achieved 94.70% accuracy when tested on 46,577 unseen social media posts.</a:t>
            </a:r>
          </a:p>
          <a:p>
            <a:pPr marL="0" marR="0" lvl="0" indent="0" algn="l" defTabSz="457200" rtl="0" eaLnBrk="1" fontAlgn="auto" latinLnBrk="0" hangingPunct="1">
              <a:lnSpc>
                <a:spcPct val="100000"/>
              </a:lnSpc>
              <a:spcBef>
                <a:spcPts val="0"/>
              </a:spcBef>
              <a:spcAft>
                <a:spcPts val="11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Made it run on affordable laptops (4 GB GPU) using Mixed Precision Training, Gradient Accumulation, and small batch sizes.</a:t>
            </a:r>
          </a:p>
        </p:txBody>
      </p:sp>
      <p:sp>
        <p:nvSpPr>
          <p:cNvPr id="13" name="TextBox 12">
            <a:extLst>
              <a:ext uri="{FF2B5EF4-FFF2-40B4-BE49-F238E27FC236}">
                <a16:creationId xmlns:a16="http://schemas.microsoft.com/office/drawing/2014/main" id="{EE7032C9-DF80-33D0-4E7A-5CA2C1910818}"/>
              </a:ext>
            </a:extLst>
          </p:cNvPr>
          <p:cNvSpPr txBox="1"/>
          <p:nvPr/>
        </p:nvSpPr>
        <p:spPr>
          <a:xfrm>
            <a:off x="6400800" y="1554480"/>
            <a:ext cx="5303520" cy="2743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1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Build a live web app (using </a:t>
            </a:r>
            <a:r>
              <a:rPr kumimoji="0" sz="1500" b="0" i="0" u="none" strike="noStrike" kern="1200" cap="none" spc="0" normalizeH="0" baseline="0" noProof="0" dirty="0" err="1">
                <a:ln>
                  <a:noFill/>
                </a:ln>
                <a:solidFill>
                  <a:srgbClr val="2C2C2C"/>
                </a:solidFill>
                <a:effectLst/>
                <a:uLnTx/>
                <a:uFillTx/>
                <a:latin typeface="Calibri"/>
                <a:ea typeface="+mn-ea"/>
                <a:cs typeface="+mn-cs"/>
              </a:rPr>
              <a:t>Gradio</a:t>
            </a:r>
            <a:r>
              <a:rPr kumimoji="0" sz="1500" b="0" i="0" u="none" strike="noStrike" kern="1200" cap="none" spc="0" normalizeH="0" baseline="0" noProof="0" dirty="0">
                <a:ln>
                  <a:noFill/>
                </a:ln>
                <a:solidFill>
                  <a:srgbClr val="2C2C2C"/>
                </a:solidFill>
                <a:effectLst/>
                <a:uLnTx/>
                <a:uFillTx/>
                <a:latin typeface="Calibri"/>
                <a:ea typeface="+mn-ea"/>
                <a:cs typeface="+mn-cs"/>
              </a:rPr>
              <a:t> or </a:t>
            </a:r>
            <a:r>
              <a:rPr kumimoji="0" sz="1500" b="0" i="0" u="none" strike="noStrike" kern="1200" cap="none" spc="0" normalizeH="0" baseline="0" noProof="0" dirty="0" err="1">
                <a:ln>
                  <a:noFill/>
                </a:ln>
                <a:solidFill>
                  <a:srgbClr val="2C2C2C"/>
                </a:solidFill>
                <a:effectLst/>
                <a:uLnTx/>
                <a:uFillTx/>
                <a:latin typeface="Calibri"/>
                <a:ea typeface="+mn-ea"/>
                <a:cs typeface="+mn-cs"/>
              </a:rPr>
              <a:t>Streamlit</a:t>
            </a:r>
            <a:r>
              <a:rPr kumimoji="0" sz="1500" b="0" i="0" u="none" strike="noStrike" kern="1200" cap="none" spc="0" normalizeH="0" baseline="0" noProof="0" dirty="0">
                <a:ln>
                  <a:noFill/>
                </a:ln>
                <a:solidFill>
                  <a:srgbClr val="2C2C2C"/>
                </a:solidFill>
                <a:effectLst/>
                <a:uLnTx/>
                <a:uFillTx/>
                <a:latin typeface="Calibri"/>
                <a:ea typeface="+mn-ea"/>
                <a:cs typeface="+mn-cs"/>
              </a:rPr>
              <a:t>) where users can paste a post and get instant bully/not-bully results.</a:t>
            </a:r>
          </a:p>
          <a:p>
            <a:pPr marL="0" marR="0" lvl="0" indent="0" algn="l" defTabSz="457200" rtl="0" eaLnBrk="1" fontAlgn="auto" latinLnBrk="0" hangingPunct="1">
              <a:lnSpc>
                <a:spcPct val="100000"/>
              </a:lnSpc>
              <a:spcBef>
                <a:spcPts val="0"/>
              </a:spcBef>
              <a:spcAft>
                <a:spcPts val="11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Add video analysis — extract frames and audio from video content for detection.</a:t>
            </a:r>
          </a:p>
          <a:p>
            <a:pPr marL="0" marR="0" lvl="0" indent="0" algn="l" defTabSz="457200" rtl="0" eaLnBrk="1" fontAlgn="auto" latinLnBrk="0" hangingPunct="1">
              <a:lnSpc>
                <a:spcPct val="100000"/>
              </a:lnSpc>
              <a:spcBef>
                <a:spcPts val="0"/>
              </a:spcBef>
              <a:spcAft>
                <a:spcPts val="11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Support multiple languages, especially Hindi-English mixed text (Hinglish) common in Indian social media.</a:t>
            </a:r>
          </a:p>
          <a:p>
            <a:pPr marL="0" marR="0" lvl="0" indent="0" algn="l" defTabSz="457200" rtl="0" eaLnBrk="1" fontAlgn="auto" latinLnBrk="0" hangingPunct="1">
              <a:lnSpc>
                <a:spcPct val="100000"/>
              </a:lnSpc>
              <a:spcBef>
                <a:spcPts val="0"/>
              </a:spcBef>
              <a:spcAft>
                <a:spcPts val="11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Move from simple Yes/No detection to severity levels: mild, moderate, and severe bullying.</a:t>
            </a:r>
          </a:p>
          <a:p>
            <a:pPr marL="0" marR="0" lvl="0" indent="0" algn="l" defTabSz="457200" rtl="0" eaLnBrk="1" fontAlgn="auto" latinLnBrk="0" hangingPunct="1">
              <a:lnSpc>
                <a:spcPct val="100000"/>
              </a:lnSpc>
              <a:spcBef>
                <a:spcPts val="0"/>
              </a:spcBef>
              <a:spcAft>
                <a:spcPts val="1100"/>
              </a:spcAft>
              <a:buClrTx/>
              <a:buSzTx/>
              <a:buFontTx/>
              <a:buNone/>
              <a:tabLst/>
              <a:defRPr sz="1500" b="0">
                <a:solidFill>
                  <a:srgbClr val="2C2C2C"/>
                </a:solidFill>
              </a:defRPr>
            </a:pPr>
            <a:r>
              <a:rPr kumimoji="0" sz="1500" b="0" i="0" u="none" strike="noStrike" kern="1200" cap="none" spc="0" normalizeH="0" baseline="0" noProof="0" dirty="0">
                <a:ln>
                  <a:noFill/>
                </a:ln>
                <a:solidFill>
                  <a:srgbClr val="2C2C2C"/>
                </a:solidFill>
                <a:effectLst/>
                <a:uLnTx/>
                <a:uFillTx/>
                <a:latin typeface="Calibri"/>
                <a:ea typeface="+mn-ea"/>
                <a:cs typeface="+mn-cs"/>
              </a:rPr>
              <a:t>•  Make the model small enough to run on mobile phones using Knowledge Distillation and Quantization.</a:t>
            </a:r>
          </a:p>
        </p:txBody>
      </p:sp>
      <p:sp>
        <p:nvSpPr>
          <p:cNvPr id="14" name="TextBox 13">
            <a:extLst>
              <a:ext uri="{FF2B5EF4-FFF2-40B4-BE49-F238E27FC236}">
                <a16:creationId xmlns:a16="http://schemas.microsoft.com/office/drawing/2014/main" id="{AFAADD39-E6C0-C2E9-916A-6AF189DCE4C5}"/>
              </a:ext>
            </a:extLst>
          </p:cNvPr>
          <p:cNvSpPr txBox="1"/>
          <p:nvPr/>
        </p:nvSpPr>
        <p:spPr>
          <a:xfrm>
            <a:off x="457200" y="5217042"/>
            <a:ext cx="1097280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sz="1400" b="0">
                <a:solidFill>
                  <a:srgbClr val="2C2C2C"/>
                </a:solidFill>
              </a:defRPr>
            </a:pPr>
            <a:r>
              <a:rPr kumimoji="0" sz="1400" b="0" i="0" u="none" strike="noStrike" kern="1200" cap="none" spc="0" normalizeH="0" baseline="0" noProof="0" dirty="0">
                <a:ln>
                  <a:noFill/>
                </a:ln>
                <a:solidFill>
                  <a:srgbClr val="2C2C2C"/>
                </a:solidFill>
                <a:effectLst/>
                <a:uLnTx/>
                <a:uFillTx/>
                <a:latin typeface="Calibri"/>
                <a:ea typeface="+mn-ea"/>
                <a:cs typeface="+mn-cs"/>
              </a:rPr>
              <a:t>•  Only detects bully vs. non-bully (no severity levels yet).    </a:t>
            </a:r>
            <a:endParaRPr kumimoji="0" lang="en-US" sz="1400" b="0" i="0" u="none" strike="noStrike" kern="1200" cap="none" spc="0" normalizeH="0" baseline="0" noProof="0" dirty="0">
              <a:ln>
                <a:noFill/>
              </a:ln>
              <a:solidFill>
                <a:srgbClr val="2C2C2C"/>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600"/>
              </a:spcAft>
              <a:buClrTx/>
              <a:buSzTx/>
              <a:buFontTx/>
              <a:buNone/>
              <a:tabLst/>
              <a:defRPr sz="1400" b="0">
                <a:solidFill>
                  <a:srgbClr val="2C2C2C"/>
                </a:solidFill>
              </a:defRPr>
            </a:pPr>
            <a:r>
              <a:rPr kumimoji="0" sz="1400" b="0" i="0" u="none" strike="noStrike" kern="1200" cap="none" spc="0" normalizeH="0" baseline="0" noProof="0" dirty="0">
                <a:ln>
                  <a:noFill/>
                </a:ln>
                <a:solidFill>
                  <a:srgbClr val="2C2C2C"/>
                </a:solidFill>
                <a:effectLst/>
                <a:uLnTx/>
                <a:uFillTx/>
                <a:latin typeface="Calibri"/>
                <a:ea typeface="+mn-ea"/>
                <a:cs typeface="+mn-cs"/>
              </a:rPr>
              <a:t>•  Works only with English text.    </a:t>
            </a:r>
            <a:endParaRPr kumimoji="0" lang="en-US" sz="1400" b="0" i="0" u="none" strike="noStrike" kern="1200" cap="none" spc="0" normalizeH="0" baseline="0" noProof="0" dirty="0">
              <a:ln>
                <a:noFill/>
              </a:ln>
              <a:solidFill>
                <a:srgbClr val="2C2C2C"/>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600"/>
              </a:spcAft>
              <a:buClrTx/>
              <a:buSzTx/>
              <a:buFontTx/>
              <a:buNone/>
              <a:tabLst/>
              <a:defRPr sz="1400" b="0">
                <a:solidFill>
                  <a:srgbClr val="2C2C2C"/>
                </a:solidFill>
              </a:defRPr>
            </a:pPr>
            <a:r>
              <a:rPr kumimoji="0" sz="1400" b="0" i="0" u="none" strike="noStrike" kern="1200" cap="none" spc="0" normalizeH="0" baseline="0" noProof="0" dirty="0">
                <a:ln>
                  <a:noFill/>
                </a:ln>
                <a:solidFill>
                  <a:srgbClr val="2C2C2C"/>
                </a:solidFill>
                <a:effectLst/>
                <a:uLnTx/>
                <a:uFillTx/>
                <a:latin typeface="Calibri"/>
                <a:ea typeface="+mn-ea"/>
                <a:cs typeface="+mn-cs"/>
              </a:rPr>
              <a:t>•  Recall is 78.80%, meaning about 1 in 5 actual bullying posts may go undetected.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8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800"/>
            <a:ext cx="12191695" cy="7112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wrap="square" lIns="508000" rtlCol="0" anchor="ctr"/>
          <a:lstStyle/>
          <a:p>
            <a:pPr algn="l">
              <a:defRPr sz="3000" b="1">
                <a:solidFill>
                  <a:srgbClr val="FFFFFF"/>
                </a:solidFill>
              </a:defRPr>
            </a:pPr>
            <a:r>
              <a:t>REFERENCES</a:t>
            </a:r>
          </a:p>
        </p:txBody>
      </p:sp>
      <p:sp>
        <p:nvSpPr>
          <p:cNvPr id="4" name="TextBox 3"/>
          <p:cNvSpPr txBox="1"/>
          <p:nvPr/>
        </p:nvSpPr>
        <p:spPr>
          <a:xfrm>
            <a:off x="11277295" y="6502400"/>
            <a:ext cx="731520" cy="279400"/>
          </a:xfrm>
          <a:prstGeom prst="rect">
            <a:avLst/>
          </a:prstGeom>
          <a:noFill/>
        </p:spPr>
        <p:txBody>
          <a:bodyPr wrap="none">
            <a:spAutoFit/>
          </a:bodyPr>
          <a:lstStyle/>
          <a:p>
            <a:pPr algn="r">
              <a:defRPr sz="1000">
                <a:solidFill>
                  <a:srgbClr val="888888"/>
                </a:solidFill>
              </a:defRPr>
            </a:pPr>
            <a:r>
              <a:t>12</a:t>
            </a:r>
          </a:p>
        </p:txBody>
      </p:sp>
      <p:sp>
        <p:nvSpPr>
          <p:cNvPr id="5" name="TextBox 4"/>
          <p:cNvSpPr txBox="1"/>
          <p:nvPr/>
        </p:nvSpPr>
        <p:spPr>
          <a:xfrm>
            <a:off x="365760" y="960120"/>
            <a:ext cx="11430000" cy="5642570"/>
          </a:xfrm>
          <a:prstGeom prst="rect">
            <a:avLst/>
          </a:prstGeom>
          <a:noFill/>
        </p:spPr>
        <p:txBody>
          <a:bodyPr wrap="square">
            <a:spAutoFit/>
          </a:bodyPr>
          <a:lstStyle/>
          <a:p>
            <a:pPr algn="l">
              <a:spcAft>
                <a:spcPts val="800"/>
              </a:spcAft>
              <a:defRPr sz="1300" b="0">
                <a:solidFill>
                  <a:srgbClr val="2C2C2C"/>
                </a:solidFill>
              </a:defRPr>
            </a:pPr>
            <a:r>
              <a:rPr lang="en-IN" sz="1400" dirty="0"/>
              <a:t>[1]  K. </a:t>
            </a:r>
            <a:r>
              <a:rPr lang="en-IN" sz="1400" dirty="0" err="1"/>
              <a:t>Berbery</a:t>
            </a:r>
            <a:r>
              <a:rPr lang="en-IN" sz="1400" dirty="0"/>
              <a:t>, K. </a:t>
            </a:r>
            <a:r>
              <a:rPr lang="en-IN" sz="1400" dirty="0" err="1"/>
              <a:t>Samrouth</a:t>
            </a:r>
            <a:r>
              <a:rPr lang="en-IN" sz="1400" dirty="0"/>
              <a:t>, N. Bakir and M. Dawood, "Cyberbullying Dataset Collection for an Enhanced Automatic Detection on Twitter Using Deep Learning Techniques," in Proc. Int. Conf. Smart Applications, Communications and Networking (</a:t>
            </a:r>
            <a:r>
              <a:rPr lang="en-IN" sz="1400" dirty="0" err="1"/>
              <a:t>SmartNets</a:t>
            </a:r>
            <a:r>
              <a:rPr lang="en-IN" sz="1400" dirty="0"/>
              <a:t>), 2025.</a:t>
            </a:r>
          </a:p>
          <a:p>
            <a:pPr algn="l">
              <a:spcAft>
                <a:spcPts val="800"/>
              </a:spcAft>
              <a:defRPr sz="1300" b="0">
                <a:solidFill>
                  <a:srgbClr val="2C2C2C"/>
                </a:solidFill>
              </a:defRPr>
            </a:pPr>
            <a:r>
              <a:rPr lang="en-IN" sz="1400" dirty="0"/>
              <a:t>[2]  S. Gupta, K. Rajasekaran, D. Jasani, M. Gupta, J. Dalal and S. </a:t>
            </a:r>
            <a:r>
              <a:rPr lang="en-IN" sz="1400" dirty="0" err="1"/>
              <a:t>Tensingh</a:t>
            </a:r>
            <a:r>
              <a:rPr lang="en-IN" sz="1400" dirty="0"/>
              <a:t>, "A Comprehensive Deep Learning Framework for Multimodal Cyberbullying Detection," in Proc. 6th Int. Conf. IoT Based Control Networks and Intelligent Systems (ICICNIS), 2025.</a:t>
            </a:r>
          </a:p>
          <a:p>
            <a:pPr algn="l">
              <a:spcAft>
                <a:spcPts val="800"/>
              </a:spcAft>
              <a:defRPr sz="1300" b="0">
                <a:solidFill>
                  <a:srgbClr val="2C2C2C"/>
                </a:solidFill>
              </a:defRPr>
            </a:pPr>
            <a:r>
              <a:rPr lang="en-IN" sz="1400" dirty="0"/>
              <a:t>[3]  K. Suresh Kumar, C. Abi, V. Asmitha and S. Dharshine, "Real-Time Cyberbullying Detection Across Multimodal Platforms Using XLNET and Deep CNN," in Proc. 3rd Int. Conf. Advancements in Electrical, Electronics, Communication, Computing and Automation (ICAECA), 2025.</a:t>
            </a:r>
          </a:p>
          <a:p>
            <a:pPr algn="l">
              <a:spcAft>
                <a:spcPts val="800"/>
              </a:spcAft>
              <a:defRPr sz="1300" b="0">
                <a:solidFill>
                  <a:srgbClr val="2C2C2C"/>
                </a:solidFill>
              </a:defRPr>
            </a:pPr>
            <a:r>
              <a:rPr lang="en-IN" sz="1400" dirty="0"/>
              <a:t>[4]  N. X. R. Tay, H. N. Chua, M. B. Jasser, B. Issa and G. S. </a:t>
            </a:r>
            <a:r>
              <a:rPr lang="en-IN" sz="1400" dirty="0" err="1"/>
              <a:t>ALDharhani</a:t>
            </a:r>
            <a:r>
              <a:rPr lang="en-IN" sz="1400" dirty="0"/>
              <a:t>, "Comparative Study of BERT and ChatGPT for Multi-Label Cyberbullying Detection with Intensity Scoring," in Proc. IEEE 15th Int. Conf. System Engineering and Technology (ICSET), 2025.</a:t>
            </a:r>
          </a:p>
          <a:p>
            <a:pPr algn="l">
              <a:spcAft>
                <a:spcPts val="800"/>
              </a:spcAft>
              <a:defRPr sz="1300" b="0">
                <a:solidFill>
                  <a:srgbClr val="2C2C2C"/>
                </a:solidFill>
              </a:defRPr>
            </a:pPr>
            <a:r>
              <a:rPr lang="en-IN" sz="1400" dirty="0"/>
              <a:t>[5]  A. </a:t>
            </a:r>
            <a:r>
              <a:rPr lang="en-IN" sz="1400" dirty="0" err="1"/>
              <a:t>Lakkshmanan</a:t>
            </a:r>
            <a:r>
              <a:rPr lang="en-IN" sz="1400" dirty="0"/>
              <a:t>, R. R. </a:t>
            </a:r>
            <a:r>
              <a:rPr lang="en-IN" sz="1400" dirty="0" err="1"/>
              <a:t>Kandadi</a:t>
            </a:r>
            <a:r>
              <a:rPr lang="en-IN" sz="1400" dirty="0"/>
              <a:t> and S. A. Manda, "Emotion-Driven Cyberbullying Detection: A Hybrid Deep Learning Approach Integrating CNN-LSTM and BERT for Enhanced Accuracy," in Proc. 9th Int. Conf. Communication and Electronics Systems (ICCES), 2024.</a:t>
            </a:r>
          </a:p>
          <a:p>
            <a:pPr algn="l">
              <a:spcAft>
                <a:spcPts val="800"/>
              </a:spcAft>
              <a:defRPr sz="1300" b="0">
                <a:solidFill>
                  <a:srgbClr val="2C2C2C"/>
                </a:solidFill>
              </a:defRPr>
            </a:pPr>
            <a:r>
              <a:rPr lang="en-IN" sz="1400" dirty="0"/>
              <a:t>[6]  V. B. Pal and P. D. Shetty, "Integrating Link Prediction and Comment Analysis for Enhanced Cyberbullying Detection in Online Social Interactions," in Proc. IEEE Int. Conf. Electronics, Computing and Communication Technologies (CONECCT), 2024.</a:t>
            </a:r>
          </a:p>
          <a:p>
            <a:pPr algn="l">
              <a:spcAft>
                <a:spcPts val="800"/>
              </a:spcAft>
              <a:defRPr sz="1300" b="0">
                <a:solidFill>
                  <a:srgbClr val="2C2C2C"/>
                </a:solidFill>
              </a:defRPr>
            </a:pPr>
            <a:r>
              <a:rPr lang="en-IN" sz="1400" dirty="0"/>
              <a:t>[7]  F. I. Tahmid, F. Akbar and A. Rahman, "</a:t>
            </a:r>
            <a:r>
              <a:rPr lang="en-IN" sz="1400" dirty="0" err="1"/>
              <a:t>BulliShield</a:t>
            </a:r>
            <a:r>
              <a:rPr lang="en-IN" sz="1400" dirty="0"/>
              <a:t>: A Smart Cyberbullying Detection and Reporting System," in Proc. 7th Int. Women in Data Science Conf. at Prince Sultan University (</a:t>
            </a:r>
            <a:r>
              <a:rPr lang="en-IN" sz="1400" dirty="0" err="1"/>
              <a:t>WiDS</a:t>
            </a:r>
            <a:r>
              <a:rPr lang="en-IN" sz="1400" dirty="0"/>
              <a:t> PSU), pp. 198–203, 2024.</a:t>
            </a:r>
          </a:p>
          <a:p>
            <a:pPr algn="l">
              <a:spcAft>
                <a:spcPts val="800"/>
              </a:spcAft>
              <a:defRPr sz="1300" b="0">
                <a:solidFill>
                  <a:srgbClr val="2C2C2C"/>
                </a:solidFill>
              </a:defRPr>
            </a:pPr>
            <a:r>
              <a:rPr lang="en-IN" sz="1400" dirty="0"/>
              <a:t>[8]  W. </a:t>
            </a:r>
            <a:r>
              <a:rPr lang="en-IN" sz="1400" dirty="0" err="1"/>
              <a:t>Tapaopong</a:t>
            </a:r>
            <a:r>
              <a:rPr lang="en-IN" sz="1400" dirty="0"/>
              <a:t>, J. </a:t>
            </a:r>
            <a:r>
              <a:rPr lang="en-IN" sz="1400" dirty="0" err="1"/>
              <a:t>Raksasri</a:t>
            </a:r>
            <a:r>
              <a:rPr lang="en-IN" sz="1400" dirty="0"/>
              <a:t>, A. Charoenphon and T. </a:t>
            </a:r>
            <a:r>
              <a:rPr lang="en-IN" sz="1400" dirty="0" err="1"/>
              <a:t>Samanchuen</a:t>
            </a:r>
            <a:r>
              <a:rPr lang="en-IN" sz="1400" dirty="0"/>
              <a:t>, "Enhancing Cyberbullying Detection on Social Media Using Transformer Models," in Proc. 5th Technology Innovation Management and Engineering Science Int. Conf. (TIMES-</a:t>
            </a:r>
            <a:r>
              <a:rPr lang="en-IN" sz="1400" dirty="0" err="1"/>
              <a:t>iCON</a:t>
            </a:r>
            <a:r>
              <a:rPr lang="en-IN" sz="1400" dirty="0"/>
              <a:t>), 2024.</a:t>
            </a:r>
          </a:p>
          <a:p>
            <a:pPr algn="l">
              <a:spcAft>
                <a:spcPts val="800"/>
              </a:spcAft>
              <a:defRPr sz="1300" b="0">
                <a:solidFill>
                  <a:srgbClr val="2C2C2C"/>
                </a:solidFill>
              </a:defRPr>
            </a:pPr>
            <a:r>
              <a:rPr lang="en-IN" sz="1400" dirty="0"/>
              <a:t>[9]  J. Wang, X. Xu, P. Yu and Z. Xu, "Hierarchical Multi-Stage BERT Fusion Framework with Dual Attention for Enhanced Cyberbullying Detection in Social Media," in Proc. 4th Int. Conf. Artificial Intelligence, Robotics, and Communication (ICAIRC), 2024.</a:t>
            </a:r>
          </a:p>
          <a:p>
            <a:pPr algn="l">
              <a:spcAft>
                <a:spcPts val="800"/>
              </a:spcAft>
              <a:defRPr sz="1300" b="0">
                <a:solidFill>
                  <a:srgbClr val="2C2C2C"/>
                </a:solidFill>
              </a:defRPr>
            </a:pPr>
            <a:r>
              <a:rPr lang="en-IN" sz="1400" dirty="0"/>
              <a:t>[10] M. V. Vyawahare and S. </a:t>
            </a:r>
            <a:r>
              <a:rPr lang="en-IN" sz="1400" dirty="0" err="1"/>
              <a:t>Govilkar</a:t>
            </a:r>
            <a:r>
              <a:rPr lang="en-IN" sz="1400" dirty="0"/>
              <a:t>, "Severity Detection of Cyberbullying in Online Social Networks Using Machine Learning," in Proc. 5th Int. Conf. Advances in Science and Technology (ICAST), pp. 148–153, 2022.</a:t>
            </a:r>
          </a:p>
          <a:p>
            <a:pPr algn="l">
              <a:spcAft>
                <a:spcPts val="800"/>
              </a:spcAft>
              <a:defRPr sz="1300" b="0">
                <a:solidFill>
                  <a:srgbClr val="2C2C2C"/>
                </a:solidFill>
              </a:defRPr>
            </a:pPr>
            <a:endParaRPr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6213E"/>
        </a:solidFill>
        <a:effectLst/>
      </p:bgPr>
    </p:bg>
    <p:spTree>
      <p:nvGrpSpPr>
        <p:cNvPr id="1" name="">
          <a:extLst>
            <a:ext uri="{FF2B5EF4-FFF2-40B4-BE49-F238E27FC236}">
              <a16:creationId xmlns:a16="http://schemas.microsoft.com/office/drawing/2014/main" id="{78E7C285-E5E1-0C65-2DC8-067984CED5E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0648A9D-2296-6BD7-049D-3CC3FACC8E61}"/>
              </a:ext>
            </a:extLst>
          </p:cNvPr>
          <p:cNvSpPr/>
          <p:nvPr/>
        </p:nvSpPr>
        <p:spPr>
          <a:xfrm>
            <a:off x="1371751" y="2409089"/>
            <a:ext cx="9448495" cy="3810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BBF7060A-23D1-34DD-935C-421B6A6C6D6A}"/>
              </a:ext>
            </a:extLst>
          </p:cNvPr>
          <p:cNvSpPr/>
          <p:nvPr/>
        </p:nvSpPr>
        <p:spPr>
          <a:xfrm>
            <a:off x="1371751" y="4407124"/>
            <a:ext cx="9448495" cy="3810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944E196D-DA32-98A1-CB2D-95E252170811}"/>
              </a:ext>
            </a:extLst>
          </p:cNvPr>
          <p:cNvSpPr txBox="1"/>
          <p:nvPr/>
        </p:nvSpPr>
        <p:spPr>
          <a:xfrm>
            <a:off x="457350" y="2971800"/>
            <a:ext cx="11277295" cy="91440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800"/>
              </a:spcAft>
              <a:buClrTx/>
              <a:buSzTx/>
              <a:buFontTx/>
              <a:buNone/>
              <a:tabLst/>
              <a:defRPr sz="4600" b="1">
                <a:solidFill>
                  <a:srgbClr val="FFFFFF"/>
                </a:solidFill>
              </a:defRPr>
            </a:pPr>
            <a:r>
              <a:rPr kumimoji="0" lang="en-US" sz="5400" b="1" i="0" u="none" strike="noStrike" kern="1200" cap="none" spc="0" normalizeH="0" baseline="0" noProof="0" dirty="0">
                <a:ln>
                  <a:noFill/>
                </a:ln>
                <a:solidFill>
                  <a:srgbClr val="FFFFFF"/>
                </a:solidFill>
                <a:effectLst/>
                <a:uLnTx/>
                <a:uFillTx/>
                <a:latin typeface="Calibri"/>
                <a:ea typeface="+mn-ea"/>
                <a:cs typeface="+mn-cs"/>
              </a:rPr>
              <a:t>THANK YOU</a:t>
            </a:r>
            <a:endParaRPr kumimoji="0" sz="5400" b="1" i="0" u="none" strike="noStrike" kern="1200" cap="none" spc="0" normalizeH="0" baseline="0" noProof="0" dirty="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530537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290</TotalTime>
  <Words>2654</Words>
  <Application>Microsoft Office PowerPoint</Application>
  <PresentationFormat>Widescreen</PresentationFormat>
  <Paragraphs>225</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S0498645</cp:lastModifiedBy>
  <cp:revision>8</cp:revision>
  <dcterms:created xsi:type="dcterms:W3CDTF">2013-01-27T09:14:16Z</dcterms:created>
  <dcterms:modified xsi:type="dcterms:W3CDTF">2026-05-12T13:52:18Z</dcterms:modified>
  <cp:category/>
</cp:coreProperties>
</file>